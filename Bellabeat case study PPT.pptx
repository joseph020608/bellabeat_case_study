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796250B-03C6-4445-8631-C6FF1525419D}" v="2" dt="2026-01-03T01:00:27.93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97" d="100"/>
          <a:sy n="97" d="100"/>
        </p:scale>
        <p:origin x="216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seph Reina" userId="8750fbaa35ef2952" providerId="LiveId" clId="{88D32ADC-C49D-4F8D-8F8D-ECEC16AF0C72}"/>
    <pc:docChg chg="undo custSel addSld modSld">
      <pc:chgData name="Joseph Reina" userId="8750fbaa35ef2952" providerId="LiveId" clId="{88D32ADC-C49D-4F8D-8F8D-ECEC16AF0C72}" dt="2026-01-03T01:13:27.795" v="729" actId="680"/>
      <pc:docMkLst>
        <pc:docMk/>
      </pc:docMkLst>
      <pc:sldChg chg="addSp delSp modSp mod">
        <pc:chgData name="Joseph Reina" userId="8750fbaa35ef2952" providerId="LiveId" clId="{88D32ADC-C49D-4F8D-8F8D-ECEC16AF0C72}" dt="2026-01-03T01:11:50.413" v="728" actId="26606"/>
        <pc:sldMkLst>
          <pc:docMk/>
          <pc:sldMk cId="1823292969" sldId="257"/>
        </pc:sldMkLst>
        <pc:spChg chg="mod">
          <ac:chgData name="Joseph Reina" userId="8750fbaa35ef2952" providerId="LiveId" clId="{88D32ADC-C49D-4F8D-8F8D-ECEC16AF0C72}" dt="2026-01-03T01:11:50.413" v="728" actId="26606"/>
          <ac:spMkLst>
            <pc:docMk/>
            <pc:sldMk cId="1823292969" sldId="257"/>
            <ac:spMk id="2" creationId="{CD36902D-15FA-A8CA-378F-69D59462AED2}"/>
          </ac:spMkLst>
        </pc:spChg>
        <pc:spChg chg="add mod">
          <ac:chgData name="Joseph Reina" userId="8750fbaa35ef2952" providerId="LiveId" clId="{88D32ADC-C49D-4F8D-8F8D-ECEC16AF0C72}" dt="2026-01-03T01:11:50.413" v="728" actId="26606"/>
          <ac:spMkLst>
            <pc:docMk/>
            <pc:sldMk cId="1823292969" sldId="257"/>
            <ac:spMk id="4" creationId="{6AAA2AF5-D0AE-6277-781A-67CA2897BDDD}"/>
          </ac:spMkLst>
        </pc:spChg>
        <pc:spChg chg="add del">
          <ac:chgData name="Joseph Reina" userId="8750fbaa35ef2952" providerId="LiveId" clId="{88D32ADC-C49D-4F8D-8F8D-ECEC16AF0C72}" dt="2026-01-03T01:11:50.413" v="728" actId="26606"/>
          <ac:spMkLst>
            <pc:docMk/>
            <pc:sldMk cId="1823292969" sldId="257"/>
            <ac:spMk id="9" creationId="{BACC6370-2D7E-4714-9D71-7542949D7D5D}"/>
          </ac:spMkLst>
        </pc:spChg>
        <pc:spChg chg="add del">
          <ac:chgData name="Joseph Reina" userId="8750fbaa35ef2952" providerId="LiveId" clId="{88D32ADC-C49D-4F8D-8F8D-ECEC16AF0C72}" dt="2026-01-03T01:11:50.413" v="728" actId="26606"/>
          <ac:spMkLst>
            <pc:docMk/>
            <pc:sldMk cId="1823292969" sldId="257"/>
            <ac:spMk id="11" creationId="{F68B3F68-107C-434F-AA38-110D5EA91B85}"/>
          </ac:spMkLst>
        </pc:spChg>
        <pc:spChg chg="add del">
          <ac:chgData name="Joseph Reina" userId="8750fbaa35ef2952" providerId="LiveId" clId="{88D32ADC-C49D-4F8D-8F8D-ECEC16AF0C72}" dt="2026-01-03T01:11:50.413" v="728" actId="26606"/>
          <ac:spMkLst>
            <pc:docMk/>
            <pc:sldMk cId="1823292969" sldId="257"/>
            <ac:spMk id="13" creationId="{AAD0DBB9-1A4B-4391-81D4-CB19F9AB918A}"/>
          </ac:spMkLst>
        </pc:spChg>
        <pc:spChg chg="add del">
          <ac:chgData name="Joseph Reina" userId="8750fbaa35ef2952" providerId="LiveId" clId="{88D32ADC-C49D-4F8D-8F8D-ECEC16AF0C72}" dt="2026-01-03T01:11:50.413" v="728" actId="26606"/>
          <ac:spMkLst>
            <pc:docMk/>
            <pc:sldMk cId="1823292969" sldId="257"/>
            <ac:spMk id="15" creationId="{063BBA22-50EA-4C4D-BE05-F1CE4E63AA56}"/>
          </ac:spMkLst>
        </pc:spChg>
        <pc:spChg chg="add del">
          <ac:chgData name="Joseph Reina" userId="8750fbaa35ef2952" providerId="LiveId" clId="{88D32ADC-C49D-4F8D-8F8D-ECEC16AF0C72}" dt="2026-01-03T01:11:50.406" v="727" actId="26606"/>
          <ac:spMkLst>
            <pc:docMk/>
            <pc:sldMk cId="1823292969" sldId="257"/>
            <ac:spMk id="20" creationId="{C2554CA6-288E-4202-BC52-2E5A8F0C0AED}"/>
          </ac:spMkLst>
        </pc:spChg>
        <pc:spChg chg="add del">
          <ac:chgData name="Joseph Reina" userId="8750fbaa35ef2952" providerId="LiveId" clId="{88D32ADC-C49D-4F8D-8F8D-ECEC16AF0C72}" dt="2026-01-03T01:11:50.406" v="727" actId="26606"/>
          <ac:spMkLst>
            <pc:docMk/>
            <pc:sldMk cId="1823292969" sldId="257"/>
            <ac:spMk id="22" creationId="{B10BB131-AC8E-4A8E-A5D1-36260F720C3B}"/>
          </ac:spMkLst>
        </pc:spChg>
        <pc:spChg chg="add del">
          <ac:chgData name="Joseph Reina" userId="8750fbaa35ef2952" providerId="LiveId" clId="{88D32ADC-C49D-4F8D-8F8D-ECEC16AF0C72}" dt="2026-01-03T01:11:50.406" v="727" actId="26606"/>
          <ac:spMkLst>
            <pc:docMk/>
            <pc:sldMk cId="1823292969" sldId="257"/>
            <ac:spMk id="24" creationId="{5B7778FC-632E-4DCA-A7CB-0D7731CCF970}"/>
          </ac:spMkLst>
        </pc:spChg>
        <pc:spChg chg="add del">
          <ac:chgData name="Joseph Reina" userId="8750fbaa35ef2952" providerId="LiveId" clId="{88D32ADC-C49D-4F8D-8F8D-ECEC16AF0C72}" dt="2026-01-03T01:11:50.406" v="727" actId="26606"/>
          <ac:spMkLst>
            <pc:docMk/>
            <pc:sldMk cId="1823292969" sldId="257"/>
            <ac:spMk id="26" creationId="{FA23A907-97FB-4A8F-880A-DD77401C4296}"/>
          </ac:spMkLst>
        </pc:spChg>
        <pc:spChg chg="add">
          <ac:chgData name="Joseph Reina" userId="8750fbaa35ef2952" providerId="LiveId" clId="{88D32ADC-C49D-4F8D-8F8D-ECEC16AF0C72}" dt="2026-01-03T01:11:50.413" v="728" actId="26606"/>
          <ac:spMkLst>
            <pc:docMk/>
            <pc:sldMk cId="1823292969" sldId="257"/>
            <ac:spMk id="28" creationId="{E3020543-B24B-4EC4-8FFC-8DD88EEA91A8}"/>
          </ac:spMkLst>
        </pc:spChg>
        <pc:spChg chg="add">
          <ac:chgData name="Joseph Reina" userId="8750fbaa35ef2952" providerId="LiveId" clId="{88D32ADC-C49D-4F8D-8F8D-ECEC16AF0C72}" dt="2026-01-03T01:11:50.413" v="728" actId="26606"/>
          <ac:spMkLst>
            <pc:docMk/>
            <pc:sldMk cId="1823292969" sldId="257"/>
            <ac:spMk id="31" creationId="{C1F06963-6374-4B48-844F-071A9BAAAE02}"/>
          </ac:spMkLst>
        </pc:spChg>
        <pc:spChg chg="add">
          <ac:chgData name="Joseph Reina" userId="8750fbaa35ef2952" providerId="LiveId" clId="{88D32ADC-C49D-4F8D-8F8D-ECEC16AF0C72}" dt="2026-01-03T01:11:50.413" v="728" actId="26606"/>
          <ac:spMkLst>
            <pc:docMk/>
            <pc:sldMk cId="1823292969" sldId="257"/>
            <ac:spMk id="32" creationId="{6CB927A4-E432-4310-9CD5-E89FF5063179}"/>
          </ac:spMkLst>
        </pc:spChg>
        <pc:spChg chg="add">
          <ac:chgData name="Joseph Reina" userId="8750fbaa35ef2952" providerId="LiveId" clId="{88D32ADC-C49D-4F8D-8F8D-ECEC16AF0C72}" dt="2026-01-03T01:11:50.413" v="728" actId="26606"/>
          <ac:spMkLst>
            <pc:docMk/>
            <pc:sldMk cId="1823292969" sldId="257"/>
            <ac:spMk id="33" creationId="{1453BF6C-B012-48B7-B4E8-6D7AC7C27D02}"/>
          </ac:spMkLst>
        </pc:spChg>
        <pc:graphicFrameChg chg="del">
          <ac:chgData name="Joseph Reina" userId="8750fbaa35ef2952" providerId="LiveId" clId="{88D32ADC-C49D-4F8D-8F8D-ECEC16AF0C72}" dt="2026-01-03T01:09:21.517" v="316" actId="478"/>
          <ac:graphicFrameMkLst>
            <pc:docMk/>
            <pc:sldMk cId="1823292969" sldId="257"/>
            <ac:graphicFrameMk id="5" creationId="{27FA3F3F-4D25-240A-B88A-B6EB81838EA5}"/>
          </ac:graphicFrameMkLst>
        </pc:graphicFrameChg>
      </pc:sldChg>
      <pc:sldChg chg="addSp delSp modSp mod setBg">
        <pc:chgData name="Joseph Reina" userId="8750fbaa35ef2952" providerId="LiveId" clId="{88D32ADC-C49D-4F8D-8F8D-ECEC16AF0C72}" dt="2026-01-03T01:01:20.626" v="315" actId="26606"/>
        <pc:sldMkLst>
          <pc:docMk/>
          <pc:sldMk cId="1255705388" sldId="261"/>
        </pc:sldMkLst>
        <pc:spChg chg="mod">
          <ac:chgData name="Joseph Reina" userId="8750fbaa35ef2952" providerId="LiveId" clId="{88D32ADC-C49D-4F8D-8F8D-ECEC16AF0C72}" dt="2026-01-03T01:00:44.969" v="313" actId="26606"/>
          <ac:spMkLst>
            <pc:docMk/>
            <pc:sldMk cId="1255705388" sldId="261"/>
            <ac:spMk id="2" creationId="{5DB608FB-3D52-82E9-CDD0-175446C1FEBD}"/>
          </ac:spMkLst>
        </pc:spChg>
        <pc:spChg chg="mod">
          <ac:chgData name="Joseph Reina" userId="8750fbaa35ef2952" providerId="LiveId" clId="{88D32ADC-C49D-4F8D-8F8D-ECEC16AF0C72}" dt="2026-01-03T01:01:16.178" v="314" actId="33524"/>
          <ac:spMkLst>
            <pc:docMk/>
            <pc:sldMk cId="1255705388" sldId="261"/>
            <ac:spMk id="3" creationId="{08FEF719-A342-242D-8E04-2E2587D1C0BB}"/>
          </ac:spMkLst>
        </pc:spChg>
        <pc:spChg chg="add del">
          <ac:chgData name="Joseph Reina" userId="8750fbaa35ef2952" providerId="LiveId" clId="{88D32ADC-C49D-4F8D-8F8D-ECEC16AF0C72}" dt="2026-01-03T01:01:20.626" v="315" actId="26606"/>
          <ac:spMkLst>
            <pc:docMk/>
            <pc:sldMk cId="1255705388" sldId="261"/>
            <ac:spMk id="8" creationId="{327D73B4-9F5C-4A64-A179-51B9500CB8B5}"/>
          </ac:spMkLst>
        </pc:spChg>
        <pc:spChg chg="add del">
          <ac:chgData name="Joseph Reina" userId="8750fbaa35ef2952" providerId="LiveId" clId="{88D32ADC-C49D-4F8D-8F8D-ECEC16AF0C72}" dt="2026-01-03T01:01:20.626" v="315" actId="26606"/>
          <ac:spMkLst>
            <pc:docMk/>
            <pc:sldMk cId="1255705388" sldId="261"/>
            <ac:spMk id="10" creationId="{C1F06963-6374-4B48-844F-071A9BAAAE02}"/>
          </ac:spMkLst>
        </pc:spChg>
        <pc:spChg chg="add del">
          <ac:chgData name="Joseph Reina" userId="8750fbaa35ef2952" providerId="LiveId" clId="{88D32ADC-C49D-4F8D-8F8D-ECEC16AF0C72}" dt="2026-01-03T01:01:20.626" v="315" actId="26606"/>
          <ac:spMkLst>
            <pc:docMk/>
            <pc:sldMk cId="1255705388" sldId="261"/>
            <ac:spMk id="12" creationId="{6CB927A4-E432-4310-9CD5-E89FF5063179}"/>
          </ac:spMkLst>
        </pc:spChg>
        <pc:spChg chg="add del">
          <ac:chgData name="Joseph Reina" userId="8750fbaa35ef2952" providerId="LiveId" clId="{88D32ADC-C49D-4F8D-8F8D-ECEC16AF0C72}" dt="2026-01-03T01:01:20.626" v="315" actId="26606"/>
          <ac:spMkLst>
            <pc:docMk/>
            <pc:sldMk cId="1255705388" sldId="261"/>
            <ac:spMk id="14" creationId="{1453BF6C-B012-48B7-B4E8-6D7AC7C27D02}"/>
          </ac:spMkLst>
        </pc:spChg>
        <pc:spChg chg="add del">
          <ac:chgData name="Joseph Reina" userId="8750fbaa35ef2952" providerId="LiveId" clId="{88D32ADC-C49D-4F8D-8F8D-ECEC16AF0C72}" dt="2026-01-03T01:01:20.626" v="315" actId="26606"/>
          <ac:spMkLst>
            <pc:docMk/>
            <pc:sldMk cId="1255705388" sldId="261"/>
            <ac:spMk id="16" creationId="{E3020543-B24B-4EC4-8FFC-8DD88EEA91A8}"/>
          </ac:spMkLst>
        </pc:spChg>
        <pc:spChg chg="add">
          <ac:chgData name="Joseph Reina" userId="8750fbaa35ef2952" providerId="LiveId" clId="{88D32ADC-C49D-4F8D-8F8D-ECEC16AF0C72}" dt="2026-01-03T01:01:20.626" v="315" actId="26606"/>
          <ac:spMkLst>
            <pc:docMk/>
            <pc:sldMk cId="1255705388" sldId="261"/>
            <ac:spMk id="23" creationId="{327D73B4-9F5C-4A64-A179-51B9500CB8B5}"/>
          </ac:spMkLst>
        </pc:spChg>
        <pc:spChg chg="add">
          <ac:chgData name="Joseph Reina" userId="8750fbaa35ef2952" providerId="LiveId" clId="{88D32ADC-C49D-4F8D-8F8D-ECEC16AF0C72}" dt="2026-01-03T01:01:20.626" v="315" actId="26606"/>
          <ac:spMkLst>
            <pc:docMk/>
            <pc:sldMk cId="1255705388" sldId="261"/>
            <ac:spMk id="25" creationId="{C1F06963-6374-4B48-844F-071A9BAAAE02}"/>
          </ac:spMkLst>
        </pc:spChg>
        <pc:spChg chg="add">
          <ac:chgData name="Joseph Reina" userId="8750fbaa35ef2952" providerId="LiveId" clId="{88D32ADC-C49D-4F8D-8F8D-ECEC16AF0C72}" dt="2026-01-03T01:01:20.626" v="315" actId="26606"/>
          <ac:spMkLst>
            <pc:docMk/>
            <pc:sldMk cId="1255705388" sldId="261"/>
            <ac:spMk id="27" creationId="{6CB927A4-E432-4310-9CD5-E89FF5063179}"/>
          </ac:spMkLst>
        </pc:spChg>
        <pc:spChg chg="add">
          <ac:chgData name="Joseph Reina" userId="8750fbaa35ef2952" providerId="LiveId" clId="{88D32ADC-C49D-4F8D-8F8D-ECEC16AF0C72}" dt="2026-01-03T01:01:20.626" v="315" actId="26606"/>
          <ac:spMkLst>
            <pc:docMk/>
            <pc:sldMk cId="1255705388" sldId="261"/>
            <ac:spMk id="29" creationId="{1453BF6C-B012-48B7-B4E8-6D7AC7C27D02}"/>
          </ac:spMkLst>
        </pc:spChg>
        <pc:spChg chg="add">
          <ac:chgData name="Joseph Reina" userId="8750fbaa35ef2952" providerId="LiveId" clId="{88D32ADC-C49D-4F8D-8F8D-ECEC16AF0C72}" dt="2026-01-03T01:01:20.626" v="315" actId="26606"/>
          <ac:spMkLst>
            <pc:docMk/>
            <pc:sldMk cId="1255705388" sldId="261"/>
            <ac:spMk id="31" creationId="{E3020543-B24B-4EC4-8FFC-8DD88EEA91A8}"/>
          </ac:spMkLst>
        </pc:spChg>
        <pc:cxnChg chg="add">
          <ac:chgData name="Joseph Reina" userId="8750fbaa35ef2952" providerId="LiveId" clId="{88D32ADC-C49D-4F8D-8F8D-ECEC16AF0C72}" dt="2026-01-03T01:00:44.969" v="313" actId="26606"/>
          <ac:cxnSpMkLst>
            <pc:docMk/>
            <pc:sldMk cId="1255705388" sldId="261"/>
            <ac:cxnSpMk id="18" creationId="{C49DA8F6-BCC1-4447-B54C-57856834B94B}"/>
          </ac:cxnSpMkLst>
        </pc:cxnChg>
      </pc:sldChg>
      <pc:sldChg chg="new">
        <pc:chgData name="Joseph Reina" userId="8750fbaa35ef2952" providerId="LiveId" clId="{88D32ADC-C49D-4F8D-8F8D-ECEC16AF0C72}" dt="2026-01-03T01:13:27.795" v="729" actId="680"/>
        <pc:sldMkLst>
          <pc:docMk/>
          <pc:sldMk cId="557253845" sldId="262"/>
        </pc:sldMkLst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Libro2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Libro2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Libro2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Total average steps per day of the week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CO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'Analysis 2'!$B$1</c:f>
              <c:strCache>
                <c:ptCount val="1"/>
                <c:pt idx="0">
                  <c:v>AVG_steps</c:v>
                </c:pt>
              </c:strCache>
            </c:strRef>
          </c:tx>
          <c:spPr>
            <a:gradFill flip="none" rotWithShape="1">
              <a:gsLst>
                <a:gs pos="0">
                  <a:schemeClr val="tx1">
                    <a:lumMod val="65000"/>
                    <a:lumOff val="35000"/>
                  </a:schemeClr>
                </a:gs>
                <a:gs pos="57000">
                  <a:schemeClr val="accent2">
                    <a:lumMod val="60000"/>
                    <a:lumOff val="40000"/>
                  </a:schemeClr>
                </a:gs>
                <a:gs pos="12000">
                  <a:srgbClr val="A07057"/>
                </a:gs>
                <a:gs pos="100000">
                  <a:schemeClr val="accent2"/>
                </a:gs>
              </a:gsLst>
              <a:lin ang="16200000" scaled="1"/>
              <a:tileRect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cat>
            <c:strRef>
              <c:f>'Analysis 2'!$A$2:$A$8</c:f>
              <c:strCache>
                <c:ptCount val="7"/>
                <c:pt idx="0">
                  <c:v>Monday</c:v>
                </c:pt>
                <c:pt idx="1">
                  <c:v>Tuesday</c:v>
                </c:pt>
                <c:pt idx="2">
                  <c:v>Wednesday</c:v>
                </c:pt>
                <c:pt idx="3">
                  <c:v>Thursday</c:v>
                </c:pt>
                <c:pt idx="4">
                  <c:v>Friday</c:v>
                </c:pt>
                <c:pt idx="5">
                  <c:v>Saturday</c:v>
                </c:pt>
                <c:pt idx="6">
                  <c:v>Sunday</c:v>
                </c:pt>
              </c:strCache>
            </c:strRef>
          </c:cat>
          <c:val>
            <c:numRef>
              <c:f>'Analysis 2'!$B$2:$B$8</c:f>
              <c:numCache>
                <c:formatCode>General</c:formatCode>
                <c:ptCount val="7"/>
                <c:pt idx="0">
                  <c:v>8488.2181999999993</c:v>
                </c:pt>
                <c:pt idx="1">
                  <c:v>8884.8992999999991</c:v>
                </c:pt>
                <c:pt idx="2">
                  <c:v>8157.5971</c:v>
                </c:pt>
                <c:pt idx="3">
                  <c:v>8064.1333000000004</c:v>
                </c:pt>
                <c:pt idx="4">
                  <c:v>7820.6417000000001</c:v>
                </c:pt>
                <c:pt idx="5">
                  <c:v>8791.0347999999994</c:v>
                </c:pt>
                <c:pt idx="6">
                  <c:v>7626.5545000000002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761-4679-8419-A926E67BAEE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-24"/>
        <c:axId val="1893370608"/>
        <c:axId val="1893374928"/>
      </c:barChart>
      <c:catAx>
        <c:axId val="189337060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CO"/>
          </a:p>
        </c:txPr>
        <c:crossAx val="1893374928"/>
        <c:crosses val="autoZero"/>
        <c:auto val="1"/>
        <c:lblAlgn val="ctr"/>
        <c:lblOffset val="100"/>
        <c:noMultiLvlLbl val="0"/>
      </c:catAx>
      <c:valAx>
        <c:axId val="1893374928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CO"/>
          </a:p>
        </c:txPr>
        <c:crossAx val="189337060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CO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0" i="0" u="none" strike="noStrike" kern="1200" cap="none" spc="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j-ea"/>
                <a:cs typeface="+mj-cs"/>
              </a:defRPr>
            </a:pPr>
            <a:r>
              <a:rPr lang="en-US" dirty="0"/>
              <a:t>Steps</a:t>
            </a:r>
            <a:r>
              <a:rPr lang="en-US" baseline="0" dirty="0"/>
              <a:t> VS Calories</a:t>
            </a:r>
            <a:endParaRPr lang="en-US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cap="none" spc="50" normalizeH="0" baseline="0">
              <a:solidFill>
                <a:schemeClr val="tx1">
                  <a:lumMod val="65000"/>
                  <a:lumOff val="35000"/>
                </a:schemeClr>
              </a:solidFill>
              <a:latin typeface="+mj-lt"/>
              <a:ea typeface="+mj-ea"/>
              <a:cs typeface="+mj-cs"/>
            </a:defRPr>
          </a:pPr>
          <a:endParaRPr lang="en-US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'Analysis 3'!$C$1</c:f>
              <c:strCache>
                <c:ptCount val="1"/>
                <c:pt idx="0">
                  <c:v>AVG_calories</c:v>
                </c:pt>
              </c:strCache>
            </c:strRef>
          </c:tx>
          <c:spPr>
            <a:ln w="25400" cap="rnd">
              <a:noFill/>
              <a:round/>
            </a:ln>
            <a:effectLst/>
          </c:spPr>
          <c:marker>
            <c:symbol val="circle"/>
            <c:size val="6"/>
            <c:spPr>
              <a:solidFill>
                <a:schemeClr val="lt1"/>
              </a:solidFill>
              <a:ln w="38100">
                <a:solidFill>
                  <a:schemeClr val="accent1">
                    <a:alpha val="60000"/>
                  </a:schemeClr>
                </a:solidFill>
              </a:ln>
              <a:effectLst/>
            </c:spPr>
          </c:marker>
          <c:xVal>
            <c:numRef>
              <c:f>'Analysis 3'!$B$2:$B$34</c:f>
              <c:numCache>
                <c:formatCode>General</c:formatCode>
                <c:ptCount val="33"/>
                <c:pt idx="0">
                  <c:v>12520.6333</c:v>
                </c:pt>
                <c:pt idx="1">
                  <c:v>5743.9031999999997</c:v>
                </c:pt>
                <c:pt idx="2">
                  <c:v>7282.9666999999999</c:v>
                </c:pt>
                <c:pt idx="3">
                  <c:v>3635.5455000000002</c:v>
                </c:pt>
                <c:pt idx="4">
                  <c:v>1577.7778000000001</c:v>
                </c:pt>
                <c:pt idx="5">
                  <c:v>11370.645200000001</c:v>
                </c:pt>
                <c:pt idx="6">
                  <c:v>5566.8710000000001</c:v>
                </c:pt>
                <c:pt idx="7">
                  <c:v>4716.8710000000001</c:v>
                </c:pt>
                <c:pt idx="8">
                  <c:v>9519.6666999999998</c:v>
                </c:pt>
                <c:pt idx="9">
                  <c:v>7555.7741999999998</c:v>
                </c:pt>
                <c:pt idx="10">
                  <c:v>6861.65</c:v>
                </c:pt>
                <c:pt idx="11">
                  <c:v>10984.566699999999</c:v>
                </c:pt>
                <c:pt idx="12">
                  <c:v>4134.3528999999999</c:v>
                </c:pt>
                <c:pt idx="13">
                  <c:v>5117.3333000000002</c:v>
                </c:pt>
                <c:pt idx="14">
                  <c:v>7268.8387000000002</c:v>
                </c:pt>
                <c:pt idx="15">
                  <c:v>10813.9355</c:v>
                </c:pt>
                <c:pt idx="16">
                  <c:v>4796.5483999999997</c:v>
                </c:pt>
                <c:pt idx="17">
                  <c:v>7685.1289999999999</c:v>
                </c:pt>
                <c:pt idx="18">
                  <c:v>8857.7999999999993</c:v>
                </c:pt>
                <c:pt idx="19">
                  <c:v>8612.5805999999993</c:v>
                </c:pt>
                <c:pt idx="20">
                  <c:v>8897.6070999999993</c:v>
                </c:pt>
                <c:pt idx="21">
                  <c:v>8578.6087000000007</c:v>
                </c:pt>
                <c:pt idx="22">
                  <c:v>6553.48</c:v>
                </c:pt>
                <c:pt idx="23">
                  <c:v>3853.6471000000001</c:v>
                </c:pt>
                <c:pt idx="24">
                  <c:v>9794.8065000000006</c:v>
                </c:pt>
                <c:pt idx="25">
                  <c:v>11776.36</c:v>
                </c:pt>
                <c:pt idx="26">
                  <c:v>9684.1666999999998</c:v>
                </c:pt>
                <c:pt idx="27">
                  <c:v>14763.290300000001</c:v>
                </c:pt>
                <c:pt idx="28">
                  <c:v>6842.2777999999998</c:v>
                </c:pt>
                <c:pt idx="29">
                  <c:v>8717.7096999999994</c:v>
                </c:pt>
                <c:pt idx="30">
                  <c:v>7438.4666999999999</c:v>
                </c:pt>
                <c:pt idx="31">
                  <c:v>2687.9</c:v>
                </c:pt>
                <c:pt idx="32">
                  <c:v>16040.032300000001</c:v>
                </c:pt>
              </c:numCache>
            </c:numRef>
          </c:xVal>
          <c:yVal>
            <c:numRef>
              <c:f>'Analysis 3'!$C$2:$C$34</c:f>
              <c:numCache>
                <c:formatCode>General</c:formatCode>
                <c:ptCount val="33"/>
                <c:pt idx="0">
                  <c:v>1876.9666999999999</c:v>
                </c:pt>
                <c:pt idx="1">
                  <c:v>1483.3548000000001</c:v>
                </c:pt>
                <c:pt idx="2">
                  <c:v>2811.3</c:v>
                </c:pt>
                <c:pt idx="3">
                  <c:v>1666.0908999999999</c:v>
                </c:pt>
                <c:pt idx="4">
                  <c:v>2251.9443999999999</c:v>
                </c:pt>
                <c:pt idx="5">
                  <c:v>2509.9677000000001</c:v>
                </c:pt>
                <c:pt idx="6">
                  <c:v>1540.6451999999999</c:v>
                </c:pt>
                <c:pt idx="7">
                  <c:v>1724.1613</c:v>
                </c:pt>
                <c:pt idx="8">
                  <c:v>2043.4444000000001</c:v>
                </c:pt>
                <c:pt idx="9">
                  <c:v>1916.9676999999999</c:v>
                </c:pt>
                <c:pt idx="10">
                  <c:v>1933.1</c:v>
                </c:pt>
                <c:pt idx="11">
                  <c:v>1513.6667</c:v>
                </c:pt>
                <c:pt idx="12">
                  <c:v>2719.9412000000002</c:v>
                </c:pt>
                <c:pt idx="13">
                  <c:v>2039.6667</c:v>
                </c:pt>
                <c:pt idx="14">
                  <c:v>2037.6774</c:v>
                </c:pt>
                <c:pt idx="15">
                  <c:v>3093.8710000000001</c:v>
                </c:pt>
                <c:pt idx="16">
                  <c:v>2186.1934999999999</c:v>
                </c:pt>
                <c:pt idx="17">
                  <c:v>2033.2581</c:v>
                </c:pt>
                <c:pt idx="18">
                  <c:v>2997.1667000000002</c:v>
                </c:pt>
                <c:pt idx="19">
                  <c:v>1875.6774</c:v>
                </c:pt>
                <c:pt idx="20">
                  <c:v>3469.6786000000002</c:v>
                </c:pt>
                <c:pt idx="21">
                  <c:v>2427.4348</c:v>
                </c:pt>
                <c:pt idx="22">
                  <c:v>2768.36</c:v>
                </c:pt>
                <c:pt idx="23">
                  <c:v>2285.7058999999999</c:v>
                </c:pt>
                <c:pt idx="24">
                  <c:v>1982.0323000000001</c:v>
                </c:pt>
                <c:pt idx="25">
                  <c:v>2583.48</c:v>
                </c:pt>
                <c:pt idx="26">
                  <c:v>2597.6</c:v>
                </c:pt>
                <c:pt idx="27">
                  <c:v>2945.8065000000001</c:v>
                </c:pt>
                <c:pt idx="28">
                  <c:v>1887.3333</c:v>
                </c:pt>
                <c:pt idx="29">
                  <c:v>3436.5805999999998</c:v>
                </c:pt>
                <c:pt idx="30">
                  <c:v>2823.1</c:v>
                </c:pt>
                <c:pt idx="31">
                  <c:v>2085.75</c:v>
                </c:pt>
                <c:pt idx="32">
                  <c:v>3420.2581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31B5-4C50-9766-E13165BF185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29812095"/>
        <c:axId val="129811615"/>
      </c:scatterChart>
      <c:valAx>
        <c:axId val="12981209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>
            <a:solidFill>
              <a:schemeClr val="tx1">
                <a:lumMod val="15000"/>
                <a:lumOff val="85000"/>
              </a:schemeClr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cap="none" spc="2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CO"/>
          </a:p>
        </c:txPr>
        <c:crossAx val="129811615"/>
        <c:crosses val="autoZero"/>
        <c:crossBetween val="midCat"/>
      </c:valAx>
      <c:valAx>
        <c:axId val="129811615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solidFill>
              <a:schemeClr val="tx1">
                <a:lumMod val="25000"/>
                <a:lumOff val="75000"/>
              </a:schemeClr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spc="2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CO"/>
          </a:p>
        </c:txPr>
        <c:crossAx val="129812095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CO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Number of times the users fit in each segment</a:t>
            </a:r>
          </a:p>
        </c:rich>
      </c:tx>
      <c:overlay val="1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CO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'Analysis 4'!$B$1</c:f>
              <c:strCache>
                <c:ptCount val="1"/>
                <c:pt idx="0">
                  <c:v>number_times</c:v>
                </c:pt>
              </c:strCache>
            </c:strRef>
          </c:tx>
          <c:spPr>
            <a:gradFill flip="none" rotWithShape="1">
              <a:gsLst>
                <a:gs pos="0">
                  <a:schemeClr val="tx1">
                    <a:lumMod val="50000"/>
                    <a:lumOff val="50000"/>
                  </a:schemeClr>
                </a:gs>
                <a:gs pos="22000">
                  <a:schemeClr val="accent2"/>
                </a:gs>
                <a:gs pos="100000">
                  <a:schemeClr val="accent2"/>
                </a:gs>
              </a:gsLst>
              <a:lin ang="16200000" scaled="1"/>
              <a:tileRect/>
            </a:gra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CO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'Analysis 4'!$A$2:$A$5</c:f>
              <c:strCache>
                <c:ptCount val="4"/>
                <c:pt idx="0">
                  <c:v>Sedentary (0-12k)</c:v>
                </c:pt>
                <c:pt idx="1">
                  <c:v>Lightly active 12k-24k</c:v>
                </c:pt>
                <c:pt idx="2">
                  <c:v>Zero steps (other) </c:v>
                </c:pt>
                <c:pt idx="3">
                  <c:v>Active (24k+)</c:v>
                </c:pt>
              </c:strCache>
            </c:strRef>
          </c:cat>
          <c:val>
            <c:numRef>
              <c:f>'Analysis 4'!$B$2:$B$5</c:f>
              <c:numCache>
                <c:formatCode>General</c:formatCode>
                <c:ptCount val="4"/>
                <c:pt idx="0">
                  <c:v>687</c:v>
                </c:pt>
                <c:pt idx="1">
                  <c:v>173</c:v>
                </c:pt>
                <c:pt idx="2">
                  <c:v>5</c:v>
                </c:pt>
                <c:pt idx="3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4F9-4CDE-A019-91B469B1F4C0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129810383"/>
        <c:axId val="129807023"/>
      </c:barChart>
      <c:catAx>
        <c:axId val="12981038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CO"/>
          </a:p>
        </c:txPr>
        <c:crossAx val="129807023"/>
        <c:crosses val="autoZero"/>
        <c:auto val="1"/>
        <c:lblAlgn val="ctr"/>
        <c:lblOffset val="100"/>
        <c:noMultiLvlLbl val="0"/>
      </c:catAx>
      <c:valAx>
        <c:axId val="129807023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CO"/>
          </a:p>
        </c:txPr>
        <c:crossAx val="12981038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s-CO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3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lt1"/>
    </cs:fontRef>
  </cs:dataPoint>
  <cs:dataPoint3D>
    <cs:lnRef idx="0"/>
    <cs:fillRef idx="3">
      <cs:styleClr val="auto"/>
    </cs:fillRef>
    <cs:effectRef idx="3"/>
    <cs:fontRef idx="minor">
      <a:schemeClr val="lt1"/>
    </cs:fontRef>
  </cs:dataPoint3D>
  <cs:dataPointLine>
    <cs:lnRef idx="0">
      <cs:styleClr val="auto"/>
    </cs:lnRef>
    <cs:fillRef idx="3"/>
    <cs:effectRef idx="3"/>
    <cs:fontRef idx="minor">
      <a:schemeClr val="lt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lt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lt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600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lt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249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>
        <a:solidFill>
          <a:schemeClr val="tx1">
            <a:lumMod val="15000"/>
            <a:lumOff val="85000"/>
          </a:schemeClr>
        </a:solidFill>
      </a:ln>
    </cs:spPr>
    <cs:defRPr sz="900" kern="1200" cap="none" spc="20" normalizeH="0" baseline="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bg1"/>
    </cs:fontRef>
    <cs:spPr>
      <a:solidFill>
        <a:schemeClr val="tx1">
          <a:lumMod val="50000"/>
          <a:lumOff val="50000"/>
        </a:schemeClr>
      </a:solidFill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70000"/>
        </a:schemeClr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70000"/>
        </a:schemeClr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>
            <a:alpha val="60000"/>
          </a:schemeClr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lt1"/>
      </a:solidFill>
      <a:ln w="38100">
        <a:solidFill>
          <a:schemeClr val="phClr">
            <a:alpha val="60000"/>
          </a:schemeClr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15000"/>
            <a:lumOff val="8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 baseline="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>
        <a:solidFill>
          <a:schemeClr val="tx1">
            <a:lumMod val="15000"/>
            <a:lumOff val="85000"/>
          </a:schemeClr>
        </a:solidFill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ajor">
      <a:schemeClr val="tx1">
        <a:lumMod val="65000"/>
        <a:lumOff val="35000"/>
      </a:schemeClr>
    </cs:fontRef>
    <cs:defRPr sz="1600" b="0" i="0" kern="1200" cap="none" spc="5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587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>
        <a:solidFill>
          <a:schemeClr val="tx1">
            <a:lumMod val="25000"/>
            <a:lumOff val="75000"/>
          </a:schemeClr>
        </a:solidFill>
      </a:ln>
    </cs:spPr>
    <cs:defRPr sz="900" kern="1200" spc="20" baseline="0"/>
  </cs:valueAxis>
  <cs:wall>
    <cs:lnRef idx="0"/>
    <cs:fillRef idx="0"/>
    <cs:effectRef idx="0"/>
    <cs:fontRef idx="minor">
      <a:schemeClr val="dk1"/>
    </cs:fontRef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56805F3-1038-40AA-81C8-4EAF7DE49608}" type="datetimeFigureOut">
              <a:rPr lang="es-CO" smtClean="0"/>
              <a:t>2/01/2026</a:t>
            </a:fld>
            <a:endParaRPr lang="es-C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9DC6EF5-8A48-4599-A059-CA542AB9A6A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8362517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DC6EF5-8A48-4599-A059-CA542AB9A6A2}" type="slidenum">
              <a:rPr lang="es-CO" smtClean="0"/>
              <a:t>2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2251753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00CFC6-CE1A-4DC5-B2FB-0B03DF995FB8}" type="datetimeFigureOut">
              <a:rPr lang="es-CO" smtClean="0"/>
              <a:t>2/01/2026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F32177-0CE6-425E-9A85-CC5E1C7DDA4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3938816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00CFC6-CE1A-4DC5-B2FB-0B03DF995FB8}" type="datetimeFigureOut">
              <a:rPr lang="es-CO" smtClean="0"/>
              <a:t>2/01/2026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F32177-0CE6-425E-9A85-CC5E1C7DDA4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4137179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00CFC6-CE1A-4DC5-B2FB-0B03DF995FB8}" type="datetimeFigureOut">
              <a:rPr lang="es-CO" smtClean="0"/>
              <a:t>2/01/2026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F32177-0CE6-425E-9A85-CC5E1C7DDA4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8679718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00CFC6-CE1A-4DC5-B2FB-0B03DF995FB8}" type="datetimeFigureOut">
              <a:rPr lang="es-CO" smtClean="0"/>
              <a:t>2/01/2026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F32177-0CE6-425E-9A85-CC5E1C7DDA4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5381147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00CFC6-CE1A-4DC5-B2FB-0B03DF995FB8}" type="datetimeFigureOut">
              <a:rPr lang="es-CO" smtClean="0"/>
              <a:t>2/01/2026</a:t>
            </a:fld>
            <a:endParaRPr lang="es-CO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F32177-0CE6-425E-9A85-CC5E1C7DDA4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7866339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00CFC6-CE1A-4DC5-B2FB-0B03DF995FB8}" type="datetimeFigureOut">
              <a:rPr lang="es-CO" smtClean="0"/>
              <a:t>2/01/2026</a:t>
            </a:fld>
            <a:endParaRPr lang="es-C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F32177-0CE6-425E-9A85-CC5E1C7DDA4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2216197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00CFC6-CE1A-4DC5-B2FB-0B03DF995FB8}" type="datetimeFigureOut">
              <a:rPr lang="es-CO" smtClean="0"/>
              <a:t>2/01/2026</a:t>
            </a:fld>
            <a:endParaRPr lang="es-CO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F32177-0CE6-425E-9A85-CC5E1C7DDA4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448803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00CFC6-CE1A-4DC5-B2FB-0B03DF995FB8}" type="datetimeFigureOut">
              <a:rPr lang="es-CO" smtClean="0"/>
              <a:t>2/01/2026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F32177-0CE6-425E-9A85-CC5E1C7DDA4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3234873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00CFC6-CE1A-4DC5-B2FB-0B03DF995FB8}" type="datetimeFigureOut">
              <a:rPr lang="es-CO" smtClean="0"/>
              <a:t>2/01/2026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F32177-0CE6-425E-9A85-CC5E1C7DDA4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1280318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00CFC6-CE1A-4DC5-B2FB-0B03DF995FB8}" type="datetimeFigureOut">
              <a:rPr lang="es-CO" smtClean="0"/>
              <a:t>2/01/2026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F32177-0CE6-425E-9A85-CC5E1C7DDA4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7227059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00CFC6-CE1A-4DC5-B2FB-0B03DF995FB8}" type="datetimeFigureOut">
              <a:rPr lang="es-CO" smtClean="0"/>
              <a:t>2/01/2026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F32177-0CE6-425E-9A85-CC5E1C7DDA4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2357763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900CFC6-CE1A-4DC5-B2FB-0B03DF995FB8}" type="datetimeFigureOut">
              <a:rPr lang="es-CO" smtClean="0"/>
              <a:t>2/01/2026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8F32177-0CE6-425E-9A85-CC5E1C7DDA4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5147901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31F5D2C-7AC3-0329-9043-9C656747B0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1949" y="1258530"/>
            <a:ext cx="9144000" cy="1042066"/>
          </a:xfrm>
        </p:spPr>
        <p:txBody>
          <a:bodyPr/>
          <a:lstStyle/>
          <a:p>
            <a:pPr algn="l"/>
            <a:r>
              <a:rPr lang="es-CO" dirty="0" err="1"/>
              <a:t>Bellabeat</a:t>
            </a:r>
            <a:r>
              <a:rPr lang="es-CO" dirty="0"/>
              <a:t> case </a:t>
            </a:r>
            <a:r>
              <a:rPr lang="es-CO" dirty="0" err="1"/>
              <a:t>study</a:t>
            </a:r>
            <a:endParaRPr lang="es-CO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657609C-1FBD-D6B9-365D-4AB54CD4E7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1949" y="2559972"/>
            <a:ext cx="3008671" cy="955367"/>
          </a:xfrm>
        </p:spPr>
        <p:txBody>
          <a:bodyPr/>
          <a:lstStyle/>
          <a:p>
            <a:pPr algn="l"/>
            <a:r>
              <a:rPr lang="es-CO" dirty="0"/>
              <a:t>Joseph Reina</a:t>
            </a:r>
          </a:p>
          <a:p>
            <a:pPr algn="l"/>
            <a:r>
              <a:rPr lang="es-CO" dirty="0" err="1"/>
              <a:t>January</a:t>
            </a:r>
            <a:r>
              <a:rPr lang="es-CO" dirty="0"/>
              <a:t> 1st 2026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16F28EB0-A1A5-7CCC-E661-28889E4D0D83}"/>
              </a:ext>
            </a:extLst>
          </p:cNvPr>
          <p:cNvSpPr/>
          <p:nvPr/>
        </p:nvSpPr>
        <p:spPr>
          <a:xfrm>
            <a:off x="471949" y="4807974"/>
            <a:ext cx="11130116" cy="393291"/>
          </a:xfrm>
          <a:prstGeom prst="rect">
            <a:avLst/>
          </a:prstGeom>
          <a:gradFill>
            <a:gsLst>
              <a:gs pos="100000">
                <a:schemeClr val="accent1">
                  <a:lumMod val="5000"/>
                  <a:lumOff val="95000"/>
                </a:schemeClr>
              </a:gs>
              <a:gs pos="45000">
                <a:schemeClr val="accent1">
                  <a:lumMod val="45000"/>
                  <a:lumOff val="55000"/>
                </a:schemeClr>
              </a:gs>
              <a:gs pos="7000">
                <a:schemeClr val="accent1">
                  <a:lumMod val="30000"/>
                  <a:lumOff val="70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204108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19">
            <a:extLst>
              <a:ext uri="{FF2B5EF4-FFF2-40B4-BE49-F238E27FC236}">
                <a16:creationId xmlns:a16="http://schemas.microsoft.com/office/drawing/2014/main" id="{327D73B4-9F5C-4A64-A179-51B9500CB8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21">
            <a:extLst>
              <a:ext uri="{FF2B5EF4-FFF2-40B4-BE49-F238E27FC236}">
                <a16:creationId xmlns:a16="http://schemas.microsoft.com/office/drawing/2014/main" id="{C1F06963-6374-4B48-844F-071A9BAAAE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99528" y="554152"/>
            <a:ext cx="5742189" cy="5742189"/>
          </a:xfrm>
          <a:prstGeom prst="ellipse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D36902D-15FA-A8CA-378F-69D59462AE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5072" y="1289765"/>
            <a:ext cx="3651101" cy="4270963"/>
          </a:xfrm>
        </p:spPr>
        <p:txBody>
          <a:bodyPr anchor="ctr">
            <a:normAutofit/>
          </a:bodyPr>
          <a:lstStyle/>
          <a:p>
            <a:pPr algn="ctr"/>
            <a:r>
              <a:rPr lang="es-CO" sz="5600">
                <a:solidFill>
                  <a:srgbClr val="FFFFFF"/>
                </a:solidFill>
              </a:rPr>
              <a:t>Business task</a:t>
            </a:r>
          </a:p>
        </p:txBody>
      </p:sp>
      <p:sp>
        <p:nvSpPr>
          <p:cNvPr id="32" name="Graphic 11">
            <a:extLst>
              <a:ext uri="{FF2B5EF4-FFF2-40B4-BE49-F238E27FC236}">
                <a16:creationId xmlns:a16="http://schemas.microsoft.com/office/drawing/2014/main" id="{6CB927A4-E432-4310-9CD5-E89FF50631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3493" y="374394"/>
            <a:ext cx="171515" cy="171515"/>
          </a:xfrm>
          <a:custGeom>
            <a:avLst/>
            <a:gdLst>
              <a:gd name="connsiteX0" fmla="*/ 159874 w 171515"/>
              <a:gd name="connsiteY0" fmla="*/ 74116 h 171515"/>
              <a:gd name="connsiteX1" fmla="*/ 97399 w 171515"/>
              <a:gd name="connsiteY1" fmla="*/ 74116 h 171515"/>
              <a:gd name="connsiteX2" fmla="*/ 97399 w 171515"/>
              <a:gd name="connsiteY2" fmla="*/ 11641 h 171515"/>
              <a:gd name="connsiteX3" fmla="*/ 85758 w 171515"/>
              <a:gd name="connsiteY3" fmla="*/ 0 h 171515"/>
              <a:gd name="connsiteX4" fmla="*/ 74116 w 171515"/>
              <a:gd name="connsiteY4" fmla="*/ 11641 h 171515"/>
              <a:gd name="connsiteX5" fmla="*/ 74116 w 171515"/>
              <a:gd name="connsiteY5" fmla="*/ 74116 h 171515"/>
              <a:gd name="connsiteX6" fmla="*/ 11641 w 171515"/>
              <a:gd name="connsiteY6" fmla="*/ 74116 h 171515"/>
              <a:gd name="connsiteX7" fmla="*/ 0 w 171515"/>
              <a:gd name="connsiteY7" fmla="*/ 85758 h 171515"/>
              <a:gd name="connsiteX8" fmla="*/ 11641 w 171515"/>
              <a:gd name="connsiteY8" fmla="*/ 97399 h 171515"/>
              <a:gd name="connsiteX9" fmla="*/ 74116 w 171515"/>
              <a:gd name="connsiteY9" fmla="*/ 97399 h 171515"/>
              <a:gd name="connsiteX10" fmla="*/ 74116 w 171515"/>
              <a:gd name="connsiteY10" fmla="*/ 159874 h 171515"/>
              <a:gd name="connsiteX11" fmla="*/ 85758 w 171515"/>
              <a:gd name="connsiteY11" fmla="*/ 171515 h 171515"/>
              <a:gd name="connsiteX12" fmla="*/ 97399 w 171515"/>
              <a:gd name="connsiteY12" fmla="*/ 159874 h 171515"/>
              <a:gd name="connsiteX13" fmla="*/ 97399 w 171515"/>
              <a:gd name="connsiteY13" fmla="*/ 97399 h 171515"/>
              <a:gd name="connsiteX14" fmla="*/ 159874 w 171515"/>
              <a:gd name="connsiteY14" fmla="*/ 97399 h 171515"/>
              <a:gd name="connsiteX15" fmla="*/ 171515 w 171515"/>
              <a:gd name="connsiteY15" fmla="*/ 85758 h 171515"/>
              <a:gd name="connsiteX16" fmla="*/ 159874 w 171515"/>
              <a:gd name="connsiteY16" fmla="*/ 74116 h 1715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71515" h="171515">
                <a:moveTo>
                  <a:pt x="159874" y="74116"/>
                </a:moveTo>
                <a:lnTo>
                  <a:pt x="97399" y="74116"/>
                </a:lnTo>
                <a:lnTo>
                  <a:pt x="97399" y="11641"/>
                </a:lnTo>
                <a:cubicBezTo>
                  <a:pt x="97399" y="5212"/>
                  <a:pt x="92187" y="0"/>
                  <a:pt x="85758" y="0"/>
                </a:cubicBezTo>
                <a:cubicBezTo>
                  <a:pt x="79328" y="0"/>
                  <a:pt x="74116" y="5212"/>
                  <a:pt x="74116" y="11641"/>
                </a:cubicBezTo>
                <a:lnTo>
                  <a:pt x="74116" y="74116"/>
                </a:lnTo>
                <a:lnTo>
                  <a:pt x="11641" y="74116"/>
                </a:lnTo>
                <a:cubicBezTo>
                  <a:pt x="5212" y="74116"/>
                  <a:pt x="0" y="79328"/>
                  <a:pt x="0" y="85758"/>
                </a:cubicBezTo>
                <a:cubicBezTo>
                  <a:pt x="0" y="92187"/>
                  <a:pt x="5212" y="97399"/>
                  <a:pt x="11641" y="97399"/>
                </a:cubicBezTo>
                <a:lnTo>
                  <a:pt x="74116" y="97399"/>
                </a:lnTo>
                <a:lnTo>
                  <a:pt x="74116" y="159874"/>
                </a:lnTo>
                <a:cubicBezTo>
                  <a:pt x="74116" y="166303"/>
                  <a:pt x="79328" y="171515"/>
                  <a:pt x="85758" y="171515"/>
                </a:cubicBezTo>
                <a:cubicBezTo>
                  <a:pt x="92187" y="171515"/>
                  <a:pt x="97399" y="166303"/>
                  <a:pt x="97399" y="159874"/>
                </a:cubicBezTo>
                <a:lnTo>
                  <a:pt x="97399" y="97399"/>
                </a:lnTo>
                <a:lnTo>
                  <a:pt x="159874" y="97399"/>
                </a:lnTo>
                <a:cubicBezTo>
                  <a:pt x="166303" y="97399"/>
                  <a:pt x="171515" y="92187"/>
                  <a:pt x="171515" y="85758"/>
                </a:cubicBezTo>
                <a:cubicBezTo>
                  <a:pt x="171515" y="79328"/>
                  <a:pt x="166303" y="74116"/>
                  <a:pt x="159874" y="74116"/>
                </a:cubicBezTo>
                <a:close/>
              </a:path>
            </a:pathLst>
          </a:custGeom>
          <a:solidFill>
            <a:schemeClr val="accent2"/>
          </a:solidFill>
          <a:ln w="77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3" name="Graphic 12">
            <a:extLst>
              <a:ext uri="{FF2B5EF4-FFF2-40B4-BE49-F238E27FC236}">
                <a16:creationId xmlns:a16="http://schemas.microsoft.com/office/drawing/2014/main" id="{1453BF6C-B012-48B7-B4E8-6D7AC7C27D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0109" y="1084507"/>
            <a:ext cx="157545" cy="157545"/>
          </a:xfrm>
          <a:custGeom>
            <a:avLst/>
            <a:gdLst>
              <a:gd name="connsiteX0" fmla="*/ 78773 w 157545"/>
              <a:gd name="connsiteY0" fmla="*/ 23283 h 157545"/>
              <a:gd name="connsiteX1" fmla="*/ 134262 w 157545"/>
              <a:gd name="connsiteY1" fmla="*/ 78773 h 157545"/>
              <a:gd name="connsiteX2" fmla="*/ 78773 w 157545"/>
              <a:gd name="connsiteY2" fmla="*/ 134262 h 157545"/>
              <a:gd name="connsiteX3" fmla="*/ 23283 w 157545"/>
              <a:gd name="connsiteY3" fmla="*/ 78773 h 157545"/>
              <a:gd name="connsiteX4" fmla="*/ 78773 w 157545"/>
              <a:gd name="connsiteY4" fmla="*/ 23283 h 157545"/>
              <a:gd name="connsiteX5" fmla="*/ 78773 w 157545"/>
              <a:gd name="connsiteY5" fmla="*/ 0 h 157545"/>
              <a:gd name="connsiteX6" fmla="*/ 0 w 157545"/>
              <a:gd name="connsiteY6" fmla="*/ 78773 h 157545"/>
              <a:gd name="connsiteX7" fmla="*/ 78773 w 157545"/>
              <a:gd name="connsiteY7" fmla="*/ 157545 h 157545"/>
              <a:gd name="connsiteX8" fmla="*/ 157545 w 157545"/>
              <a:gd name="connsiteY8" fmla="*/ 78773 h 157545"/>
              <a:gd name="connsiteX9" fmla="*/ 78773 w 157545"/>
              <a:gd name="connsiteY9" fmla="*/ 0 h 1575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7545" h="157545">
                <a:moveTo>
                  <a:pt x="78773" y="23283"/>
                </a:moveTo>
                <a:cubicBezTo>
                  <a:pt x="109419" y="23283"/>
                  <a:pt x="134262" y="48126"/>
                  <a:pt x="134262" y="78773"/>
                </a:cubicBezTo>
                <a:cubicBezTo>
                  <a:pt x="134262" y="109419"/>
                  <a:pt x="109419" y="134262"/>
                  <a:pt x="78773" y="134262"/>
                </a:cubicBezTo>
                <a:cubicBezTo>
                  <a:pt x="48126" y="134262"/>
                  <a:pt x="23283" y="109419"/>
                  <a:pt x="23283" y="78773"/>
                </a:cubicBezTo>
                <a:cubicBezTo>
                  <a:pt x="23312" y="48139"/>
                  <a:pt x="48139" y="23312"/>
                  <a:pt x="78773" y="23283"/>
                </a:cubicBezTo>
                <a:moveTo>
                  <a:pt x="78773" y="0"/>
                </a:moveTo>
                <a:cubicBezTo>
                  <a:pt x="35268" y="0"/>
                  <a:pt x="0" y="35268"/>
                  <a:pt x="0" y="78773"/>
                </a:cubicBezTo>
                <a:cubicBezTo>
                  <a:pt x="0" y="122277"/>
                  <a:pt x="35268" y="157545"/>
                  <a:pt x="78773" y="157545"/>
                </a:cubicBezTo>
                <a:cubicBezTo>
                  <a:pt x="122277" y="157545"/>
                  <a:pt x="157545" y="122277"/>
                  <a:pt x="157545" y="78773"/>
                </a:cubicBezTo>
                <a:cubicBezTo>
                  <a:pt x="157545" y="35268"/>
                  <a:pt x="122277" y="0"/>
                  <a:pt x="78773" y="0"/>
                </a:cubicBezTo>
                <a:close/>
              </a:path>
            </a:pathLst>
          </a:custGeom>
          <a:solidFill>
            <a:schemeClr val="accent2"/>
          </a:solidFill>
          <a:ln w="751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AAA2AF5-D0AE-6277-781A-67CA2897BD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97233" y="518400"/>
            <a:ext cx="4771607" cy="5837949"/>
          </a:xfrm>
        </p:spPr>
        <p:txBody>
          <a:bodyPr anchor="ctr">
            <a:normAutofit/>
          </a:bodyPr>
          <a:lstStyle/>
          <a:p>
            <a:r>
              <a:rPr lang="es-CO" sz="2000">
                <a:solidFill>
                  <a:schemeClr val="tx1">
                    <a:alpha val="80000"/>
                  </a:schemeClr>
                </a:solidFill>
              </a:rPr>
              <a:t>Analyze Smart-device usage data to identify activity patterns and opportunities for behavior change. Apply the insight to recommend marketing and producto strategies for bellabeat Spring</a:t>
            </a:r>
          </a:p>
          <a:p>
            <a:r>
              <a:rPr lang="es-CO" sz="2000">
                <a:solidFill>
                  <a:schemeClr val="tx1">
                    <a:alpha val="80000"/>
                  </a:schemeClr>
                </a:solidFill>
              </a:rPr>
              <a:t>Key questions:</a:t>
            </a:r>
          </a:p>
          <a:p>
            <a:pPr marL="0" indent="0">
              <a:buNone/>
            </a:pPr>
            <a:r>
              <a:rPr lang="es-CO" sz="2000">
                <a:solidFill>
                  <a:schemeClr val="tx1">
                    <a:alpha val="80000"/>
                  </a:schemeClr>
                </a:solidFill>
              </a:rPr>
              <a:t>-What trends exist in daily activity?</a:t>
            </a:r>
          </a:p>
          <a:p>
            <a:pPr marL="0" indent="0">
              <a:buNone/>
            </a:pPr>
            <a:r>
              <a:rPr lang="es-CO" sz="2000">
                <a:solidFill>
                  <a:schemeClr val="tx1">
                    <a:alpha val="80000"/>
                  </a:schemeClr>
                </a:solidFill>
              </a:rPr>
              <a:t>-How can these trends inform Bellabeat customers?</a:t>
            </a:r>
          </a:p>
          <a:p>
            <a:pPr marL="0" indent="0">
              <a:buNone/>
            </a:pPr>
            <a:r>
              <a:rPr lang="es-CO" sz="2000">
                <a:solidFill>
                  <a:schemeClr val="tx1">
                    <a:alpha val="80000"/>
                  </a:schemeClr>
                </a:solidFill>
              </a:rPr>
              <a:t>-How ca they influence bellabeat´s marketing strategy?</a:t>
            </a:r>
          </a:p>
        </p:txBody>
      </p:sp>
      <p:sp>
        <p:nvSpPr>
          <p:cNvPr id="28" name="Graphic 10">
            <a:extLst>
              <a:ext uri="{FF2B5EF4-FFF2-40B4-BE49-F238E27FC236}">
                <a16:creationId xmlns:a16="http://schemas.microsoft.com/office/drawing/2014/main" id="{E3020543-B24B-4EC4-8FFC-8DD88EEA91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36547" y="5751820"/>
            <a:ext cx="112426" cy="112426"/>
          </a:xfrm>
          <a:custGeom>
            <a:avLst/>
            <a:gdLst>
              <a:gd name="connsiteX0" fmla="*/ 112426 w 112426"/>
              <a:gd name="connsiteY0" fmla="*/ 56213 h 112426"/>
              <a:gd name="connsiteX1" fmla="*/ 56213 w 112426"/>
              <a:gd name="connsiteY1" fmla="*/ 112426 h 112426"/>
              <a:gd name="connsiteX2" fmla="*/ 0 w 112426"/>
              <a:gd name="connsiteY2" fmla="*/ 56213 h 112426"/>
              <a:gd name="connsiteX3" fmla="*/ 56213 w 112426"/>
              <a:gd name="connsiteY3" fmla="*/ 0 h 112426"/>
              <a:gd name="connsiteX4" fmla="*/ 112426 w 112426"/>
              <a:gd name="connsiteY4" fmla="*/ 56213 h 1124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2426" h="112426">
                <a:moveTo>
                  <a:pt x="112426" y="56213"/>
                </a:moveTo>
                <a:cubicBezTo>
                  <a:pt x="112426" y="87259"/>
                  <a:pt x="87259" y="112426"/>
                  <a:pt x="56213" y="112426"/>
                </a:cubicBezTo>
                <a:cubicBezTo>
                  <a:pt x="25167" y="112426"/>
                  <a:pt x="0" y="87259"/>
                  <a:pt x="0" y="56213"/>
                </a:cubicBezTo>
                <a:cubicBezTo>
                  <a:pt x="0" y="25167"/>
                  <a:pt x="25167" y="0"/>
                  <a:pt x="56213" y="0"/>
                </a:cubicBezTo>
                <a:cubicBezTo>
                  <a:pt x="87259" y="0"/>
                  <a:pt x="112426" y="25167"/>
                  <a:pt x="112426" y="56213"/>
                </a:cubicBezTo>
                <a:close/>
              </a:path>
            </a:pathLst>
          </a:custGeom>
          <a:solidFill>
            <a:schemeClr val="accent2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232929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" name="Rectangle 40">
            <a:extLst>
              <a:ext uri="{FF2B5EF4-FFF2-40B4-BE49-F238E27FC236}">
                <a16:creationId xmlns:a16="http://schemas.microsoft.com/office/drawing/2014/main" id="{C2554CA6-288E-4202-BC52-2E5A8F0C0A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B10BB131-AC8E-4A8E-A5D1-36260F720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9189" y="1119031"/>
            <a:ext cx="4619938" cy="461993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3A6EE41-4A09-E639-B5DC-CA2F34F678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1074" y="1396686"/>
            <a:ext cx="3240506" cy="4064628"/>
          </a:xfrm>
        </p:spPr>
        <p:txBody>
          <a:bodyPr>
            <a:normAutofit/>
          </a:bodyPr>
          <a:lstStyle/>
          <a:p>
            <a:r>
              <a:rPr lang="es-CO" dirty="0">
                <a:solidFill>
                  <a:srgbClr val="FFFFFF"/>
                </a:solidFill>
              </a:rPr>
              <a:t>Data &amp; </a:t>
            </a:r>
            <a:r>
              <a:rPr lang="es-CO">
                <a:solidFill>
                  <a:srgbClr val="FFFFFF"/>
                </a:solidFill>
              </a:rPr>
              <a:t>Cleaning</a:t>
            </a:r>
            <a:endParaRPr lang="es-CO" dirty="0">
              <a:solidFill>
                <a:srgbClr val="FFFFFF"/>
              </a:solidFill>
            </a:endParaRPr>
          </a:p>
        </p:txBody>
      </p:sp>
      <p:sp>
        <p:nvSpPr>
          <p:cNvPr id="45" name="Arc 44">
            <a:extLst>
              <a:ext uri="{FF2B5EF4-FFF2-40B4-BE49-F238E27FC236}">
                <a16:creationId xmlns:a16="http://schemas.microsoft.com/office/drawing/2014/main" id="{5B7778FC-632E-4DCA-A7CB-0D7731CCF9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9809111">
            <a:off x="8683720" y="941148"/>
            <a:ext cx="2987899" cy="2987899"/>
          </a:xfrm>
          <a:prstGeom prst="arc">
            <a:avLst>
              <a:gd name="adj1" fmla="val 15817365"/>
              <a:gd name="adj2" fmla="val 178138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FA23A907-97FB-4A8F-880A-DD77401C42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0048" y="4780992"/>
            <a:ext cx="546100" cy="5461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194C3A4-951D-24CA-43B4-32F14F23CE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70153" y="1526033"/>
            <a:ext cx="5536397" cy="393528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CO" sz="2200" dirty="0" err="1"/>
              <a:t>For</a:t>
            </a:r>
            <a:r>
              <a:rPr lang="es-CO" sz="2200" dirty="0"/>
              <a:t> </a:t>
            </a:r>
            <a:r>
              <a:rPr lang="es-CO" sz="2200" dirty="0" err="1"/>
              <a:t>this</a:t>
            </a:r>
            <a:r>
              <a:rPr lang="es-CO" sz="2200" dirty="0"/>
              <a:t> case </a:t>
            </a:r>
            <a:r>
              <a:rPr lang="es-CO" sz="2200" dirty="0" err="1"/>
              <a:t>I´ve</a:t>
            </a:r>
            <a:r>
              <a:rPr lang="es-CO" sz="2200" dirty="0"/>
              <a:t> </a:t>
            </a:r>
            <a:r>
              <a:rPr lang="es-CO" sz="2200" dirty="0" err="1"/>
              <a:t>used</a:t>
            </a:r>
            <a:r>
              <a:rPr lang="es-CO" sz="2200" dirty="0"/>
              <a:t> </a:t>
            </a:r>
            <a:r>
              <a:rPr lang="es-CO" sz="2200" b="1" dirty="0" err="1"/>
              <a:t>FitBit</a:t>
            </a:r>
            <a:r>
              <a:rPr lang="es-CO" sz="2200" b="1" dirty="0"/>
              <a:t> Fitness </a:t>
            </a:r>
            <a:r>
              <a:rPr lang="es-CO" sz="2200" b="1" dirty="0" err="1"/>
              <a:t>Tracker</a:t>
            </a:r>
            <a:r>
              <a:rPr lang="es-CO" sz="2200" b="1" dirty="0"/>
              <a:t> Data </a:t>
            </a:r>
            <a:r>
              <a:rPr lang="es-CO" sz="2200" dirty="0" err="1"/>
              <a:t>from</a:t>
            </a:r>
            <a:r>
              <a:rPr lang="es-CO" sz="2200" dirty="0"/>
              <a:t> </a:t>
            </a:r>
            <a:r>
              <a:rPr lang="es-CO" sz="2200" dirty="0" err="1"/>
              <a:t>Kaggle</a:t>
            </a:r>
            <a:r>
              <a:rPr lang="es-CO" sz="2200" dirty="0"/>
              <a:t>, </a:t>
            </a:r>
            <a:r>
              <a:rPr lang="es-CO" sz="2200" dirty="0" err="1"/>
              <a:t>with</a:t>
            </a:r>
            <a:r>
              <a:rPr lang="es-CO" sz="2200" dirty="0"/>
              <a:t> data </a:t>
            </a:r>
            <a:r>
              <a:rPr lang="es-CO" sz="2200" dirty="0" err="1"/>
              <a:t>from</a:t>
            </a:r>
            <a:r>
              <a:rPr lang="es-CO" sz="2200" dirty="0"/>
              <a:t> April-2016 </a:t>
            </a:r>
            <a:r>
              <a:rPr lang="es-CO" sz="2200" dirty="0" err="1"/>
              <a:t>to</a:t>
            </a:r>
            <a:r>
              <a:rPr lang="es-CO" sz="2200" dirty="0"/>
              <a:t> May-2016</a:t>
            </a:r>
          </a:p>
          <a:p>
            <a:pPr marL="0" indent="0">
              <a:buNone/>
            </a:pPr>
            <a:r>
              <a:rPr lang="es-CO" sz="2200" dirty="0" err="1"/>
              <a:t>Limitations</a:t>
            </a:r>
            <a:r>
              <a:rPr lang="es-CO" sz="2200" dirty="0"/>
              <a:t>:</a:t>
            </a:r>
          </a:p>
          <a:p>
            <a:pPr marL="0" indent="0">
              <a:buNone/>
            </a:pPr>
            <a:r>
              <a:rPr lang="es-CO" sz="2200" dirty="0"/>
              <a:t>-</a:t>
            </a:r>
            <a:r>
              <a:rPr lang="es-CO" sz="2200" dirty="0" err="1"/>
              <a:t>Dataset</a:t>
            </a:r>
            <a:r>
              <a:rPr lang="es-CO" sz="2200" dirty="0"/>
              <a:t> </a:t>
            </a:r>
            <a:r>
              <a:rPr lang="es-CO" sz="2200" dirty="0" err="1"/>
              <a:t>does</a:t>
            </a:r>
            <a:r>
              <a:rPr lang="es-CO" sz="2200" dirty="0"/>
              <a:t> </a:t>
            </a:r>
            <a:r>
              <a:rPr lang="es-CO" sz="2200" dirty="0" err="1"/>
              <a:t>not</a:t>
            </a:r>
            <a:r>
              <a:rPr lang="es-CO" sz="2200" dirty="0"/>
              <a:t> </a:t>
            </a:r>
            <a:r>
              <a:rPr lang="es-CO" sz="2200" dirty="0" err="1"/>
              <a:t>include</a:t>
            </a:r>
            <a:r>
              <a:rPr lang="es-CO" sz="2200" dirty="0"/>
              <a:t> </a:t>
            </a:r>
            <a:r>
              <a:rPr lang="es-CO" sz="2200" dirty="0" err="1"/>
              <a:t>demographic</a:t>
            </a:r>
            <a:r>
              <a:rPr lang="es-CO" sz="2200" dirty="0"/>
              <a:t> </a:t>
            </a:r>
            <a:r>
              <a:rPr lang="es-CO" sz="2200" dirty="0" err="1"/>
              <a:t>information</a:t>
            </a:r>
            <a:r>
              <a:rPr lang="es-CO" sz="2200" dirty="0"/>
              <a:t> </a:t>
            </a:r>
            <a:r>
              <a:rPr lang="es-CO" sz="2200" dirty="0" err="1"/>
              <a:t>such</a:t>
            </a:r>
            <a:r>
              <a:rPr lang="es-CO" sz="2200" dirty="0"/>
              <a:t> as </a:t>
            </a:r>
            <a:r>
              <a:rPr lang="es-CO" sz="2200" dirty="0" err="1"/>
              <a:t>gender</a:t>
            </a:r>
            <a:r>
              <a:rPr lang="es-CO" sz="2200" dirty="0"/>
              <a:t>, so </a:t>
            </a:r>
            <a:r>
              <a:rPr lang="es-CO" sz="2200" dirty="0" err="1"/>
              <a:t>the</a:t>
            </a:r>
            <a:r>
              <a:rPr lang="es-CO" sz="2200" dirty="0"/>
              <a:t> </a:t>
            </a:r>
            <a:r>
              <a:rPr lang="es-CO" sz="2200" dirty="0" err="1"/>
              <a:t>user</a:t>
            </a:r>
            <a:r>
              <a:rPr lang="es-CO" sz="2200" dirty="0"/>
              <a:t> are </a:t>
            </a:r>
            <a:r>
              <a:rPr lang="es-CO" sz="2200" dirty="0" err="1"/>
              <a:t>not</a:t>
            </a:r>
            <a:r>
              <a:rPr lang="es-CO" sz="2200" dirty="0"/>
              <a:t> </a:t>
            </a:r>
            <a:r>
              <a:rPr lang="es-CO" sz="2200" dirty="0" err="1"/>
              <a:t>necessarily</a:t>
            </a:r>
            <a:r>
              <a:rPr lang="es-CO" sz="2200" dirty="0"/>
              <a:t> </a:t>
            </a:r>
            <a:r>
              <a:rPr lang="es-CO" sz="2200" dirty="0" err="1"/>
              <a:t>only</a:t>
            </a:r>
            <a:r>
              <a:rPr lang="es-CO" sz="2200" dirty="0"/>
              <a:t> </a:t>
            </a:r>
            <a:r>
              <a:rPr lang="es-CO" sz="2200" dirty="0" err="1"/>
              <a:t>women</a:t>
            </a:r>
            <a:endParaRPr lang="es-CO" sz="2200" dirty="0"/>
          </a:p>
          <a:p>
            <a:pPr marL="0" indent="0">
              <a:buNone/>
            </a:pPr>
            <a:r>
              <a:rPr lang="es-CO" sz="2200" dirty="0"/>
              <a:t>-</a:t>
            </a:r>
            <a:r>
              <a:rPr lang="es-CO" sz="2200" dirty="0" err="1"/>
              <a:t>Some</a:t>
            </a:r>
            <a:r>
              <a:rPr lang="es-CO" sz="2200" dirty="0"/>
              <a:t> variables </a:t>
            </a:r>
            <a:r>
              <a:rPr lang="es-CO" sz="2200" dirty="0" err="1"/>
              <a:t>may</a:t>
            </a:r>
            <a:r>
              <a:rPr lang="es-CO" sz="2200" dirty="0"/>
              <a:t> </a:t>
            </a:r>
            <a:r>
              <a:rPr lang="es-CO" sz="2200" dirty="0" err="1"/>
              <a:t>require</a:t>
            </a:r>
            <a:r>
              <a:rPr lang="es-CO" sz="2200" dirty="0"/>
              <a:t> </a:t>
            </a:r>
            <a:r>
              <a:rPr lang="es-CO" sz="2200" dirty="0" err="1"/>
              <a:t>formatting</a:t>
            </a:r>
            <a:r>
              <a:rPr lang="es-CO" sz="2200" dirty="0"/>
              <a:t> and </a:t>
            </a:r>
            <a:r>
              <a:rPr lang="es-CO" sz="2200" dirty="0" err="1"/>
              <a:t>cleaning</a:t>
            </a:r>
            <a:r>
              <a:rPr lang="es-CO" sz="2200" dirty="0"/>
              <a:t> </a:t>
            </a:r>
            <a:r>
              <a:rPr lang="es-CO" sz="2200" dirty="0" err="1"/>
              <a:t>before</a:t>
            </a:r>
            <a:r>
              <a:rPr lang="es-CO" sz="2200" dirty="0"/>
              <a:t> </a:t>
            </a:r>
            <a:r>
              <a:rPr lang="es-CO" sz="2200" dirty="0" err="1"/>
              <a:t>the</a:t>
            </a:r>
            <a:r>
              <a:rPr lang="es-CO" sz="2200" dirty="0"/>
              <a:t> análisis</a:t>
            </a:r>
          </a:p>
          <a:p>
            <a:pPr marL="0" indent="0">
              <a:buNone/>
            </a:pPr>
            <a:r>
              <a:rPr lang="es-CO" sz="2200" dirty="0" err="1"/>
              <a:t>From</a:t>
            </a:r>
            <a:r>
              <a:rPr lang="es-CO" sz="2200" dirty="0"/>
              <a:t> </a:t>
            </a:r>
            <a:r>
              <a:rPr lang="es-CO" sz="2200" dirty="0" err="1"/>
              <a:t>the</a:t>
            </a:r>
            <a:r>
              <a:rPr lang="es-CO" sz="2200" dirty="0"/>
              <a:t> </a:t>
            </a:r>
            <a:r>
              <a:rPr lang="es-CO" sz="2200" dirty="0" err="1"/>
              <a:t>dataset</a:t>
            </a:r>
            <a:r>
              <a:rPr lang="es-CO" sz="2200" dirty="0"/>
              <a:t> </a:t>
            </a:r>
            <a:r>
              <a:rPr lang="es-CO" sz="2200" dirty="0" err="1"/>
              <a:t>were</a:t>
            </a:r>
            <a:r>
              <a:rPr lang="es-CO" sz="2200" dirty="0"/>
              <a:t> removed non-</a:t>
            </a:r>
            <a:r>
              <a:rPr lang="es-CO" sz="2200" dirty="0" err="1"/>
              <a:t>wear</a:t>
            </a:r>
            <a:r>
              <a:rPr lang="es-CO" sz="2200" dirty="0"/>
              <a:t> </a:t>
            </a:r>
            <a:r>
              <a:rPr lang="es-CO" sz="2200" dirty="0" err="1"/>
              <a:t>days</a:t>
            </a:r>
            <a:r>
              <a:rPr lang="es-CO" sz="2200" dirty="0"/>
              <a:t> (72 </a:t>
            </a:r>
            <a:r>
              <a:rPr lang="es-CO" sz="2200" dirty="0" err="1"/>
              <a:t>records</a:t>
            </a:r>
            <a:r>
              <a:rPr lang="es-CO" sz="22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3627529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362CFEB-8360-2281-D1C9-2958AE779B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92971"/>
            <a:ext cx="3025877" cy="561975"/>
          </a:xfrm>
        </p:spPr>
        <p:txBody>
          <a:bodyPr>
            <a:normAutofit fontScale="90000"/>
          </a:bodyPr>
          <a:lstStyle/>
          <a:p>
            <a:r>
              <a:rPr lang="es-CO" dirty="0"/>
              <a:t>Key </a:t>
            </a:r>
            <a:r>
              <a:rPr lang="es-CO" dirty="0" err="1"/>
              <a:t>findings</a:t>
            </a:r>
            <a:endParaRPr lang="es-CO" dirty="0"/>
          </a:p>
        </p:txBody>
      </p:sp>
      <p:graphicFrame>
        <p:nvGraphicFramePr>
          <p:cNvPr id="4" name="Marcador de contenido 3">
            <a:extLst>
              <a:ext uri="{FF2B5EF4-FFF2-40B4-BE49-F238E27FC236}">
                <a16:creationId xmlns:a16="http://schemas.microsoft.com/office/drawing/2014/main" id="{BA99308E-6731-45E0-9CF3-59BF625FDC4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15946238"/>
              </p:ext>
            </p:extLst>
          </p:nvPr>
        </p:nvGraphicFramePr>
        <p:xfrm>
          <a:off x="838200" y="2458063"/>
          <a:ext cx="7188200" cy="318795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5" name="Tabla 4">
            <a:extLst>
              <a:ext uri="{FF2B5EF4-FFF2-40B4-BE49-F238E27FC236}">
                <a16:creationId xmlns:a16="http://schemas.microsoft.com/office/drawing/2014/main" id="{FA05571A-B557-6C46-1325-FE6B36748B6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2502504"/>
              </p:ext>
            </p:extLst>
          </p:nvPr>
        </p:nvGraphicFramePr>
        <p:xfrm>
          <a:off x="870155" y="1211980"/>
          <a:ext cx="7188200" cy="56197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32323">
                  <a:extLst>
                    <a:ext uri="{9D8B030D-6E8A-4147-A177-3AD203B41FA5}">
                      <a16:colId xmlns:a16="http://schemas.microsoft.com/office/drawing/2014/main" val="1901714187"/>
                    </a:ext>
                  </a:extLst>
                </a:gridCol>
                <a:gridCol w="1475072">
                  <a:extLst>
                    <a:ext uri="{9D8B030D-6E8A-4147-A177-3AD203B41FA5}">
                      <a16:colId xmlns:a16="http://schemas.microsoft.com/office/drawing/2014/main" val="2773533170"/>
                    </a:ext>
                  </a:extLst>
                </a:gridCol>
                <a:gridCol w="2372804">
                  <a:extLst>
                    <a:ext uri="{9D8B030D-6E8A-4147-A177-3AD203B41FA5}">
                      <a16:colId xmlns:a16="http://schemas.microsoft.com/office/drawing/2014/main" val="2580190801"/>
                    </a:ext>
                  </a:extLst>
                </a:gridCol>
                <a:gridCol w="2008001">
                  <a:extLst>
                    <a:ext uri="{9D8B030D-6E8A-4147-A177-3AD203B41FA5}">
                      <a16:colId xmlns:a16="http://schemas.microsoft.com/office/drawing/2014/main" val="855819208"/>
                    </a:ext>
                  </a:extLst>
                </a:gridCol>
              </a:tblGrid>
              <a:tr h="20002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CO" sz="1200" u="none" strike="noStrike" dirty="0">
                          <a:effectLst/>
                        </a:rPr>
                        <a:t>Total </a:t>
                      </a:r>
                      <a:r>
                        <a:rPr lang="es-CO" sz="1200" u="none" strike="noStrike" dirty="0" err="1">
                          <a:effectLst/>
                        </a:rPr>
                        <a:t>Average</a:t>
                      </a:r>
                      <a:r>
                        <a:rPr lang="es-CO" sz="1200" u="none" strike="noStrike" dirty="0">
                          <a:effectLst/>
                        </a:rPr>
                        <a:t> </a:t>
                      </a:r>
                      <a:r>
                        <a:rPr lang="es-CO" sz="1200" u="none" strike="noStrike" dirty="0" err="1">
                          <a:effectLst/>
                        </a:rPr>
                        <a:t>steps</a:t>
                      </a:r>
                      <a:endParaRPr lang="es-CO" sz="1200" b="1" i="0" u="none" strike="noStrike" dirty="0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CO" sz="1200" u="none" strike="noStrike">
                          <a:effectLst/>
                        </a:rPr>
                        <a:t>Total average calories</a:t>
                      </a:r>
                      <a:endParaRPr lang="es-CO" sz="1200" b="1" i="0" u="none" strike="noStrike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CO" sz="1200" u="none" strike="noStrike">
                          <a:effectLst/>
                        </a:rPr>
                        <a:t>Total average sendentary (Minutes)</a:t>
                      </a:r>
                      <a:endParaRPr lang="es-CO" sz="1200" b="1" i="0" u="none" strike="noStrike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CO" sz="1200" u="none" strike="noStrike" dirty="0">
                          <a:effectLst/>
                        </a:rPr>
                        <a:t>Total </a:t>
                      </a:r>
                      <a:r>
                        <a:rPr lang="es-CO" sz="1200" u="none" strike="noStrike" dirty="0" err="1">
                          <a:effectLst/>
                        </a:rPr>
                        <a:t>average</a:t>
                      </a:r>
                      <a:r>
                        <a:rPr lang="es-CO" sz="1200" u="none" strike="noStrike" dirty="0">
                          <a:effectLst/>
                        </a:rPr>
                        <a:t> active (minutes)</a:t>
                      </a:r>
                      <a:endParaRPr lang="es-CO" sz="1200" b="1" i="0" u="none" strike="noStrike" dirty="0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989874589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O" sz="2200" u="none" strike="noStrike">
                          <a:effectLst/>
                        </a:rPr>
                        <a:t>8271.47</a:t>
                      </a:r>
                      <a:endParaRPr lang="es-CO" sz="2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O" sz="2200" u="none" strike="noStrike">
                          <a:effectLst/>
                        </a:rPr>
                        <a:t>2353.33</a:t>
                      </a:r>
                      <a:endParaRPr lang="es-CO" sz="2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O" sz="2200" u="none" strike="noStrike" dirty="0">
                          <a:effectLst/>
                        </a:rPr>
                        <a:t>953.98</a:t>
                      </a:r>
                      <a:endParaRPr lang="es-CO" sz="2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O" sz="2200" u="none" strike="noStrike" dirty="0">
                          <a:effectLst/>
                        </a:rPr>
                        <a:t>246.42</a:t>
                      </a:r>
                      <a:endParaRPr lang="es-CO" sz="2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142812434"/>
                  </a:ext>
                </a:extLst>
              </a:tr>
            </a:tbl>
          </a:graphicData>
        </a:graphic>
      </p:graphicFrame>
      <p:sp>
        <p:nvSpPr>
          <p:cNvPr id="6" name="CuadroTexto 5">
            <a:extLst>
              <a:ext uri="{FF2B5EF4-FFF2-40B4-BE49-F238E27FC236}">
                <a16:creationId xmlns:a16="http://schemas.microsoft.com/office/drawing/2014/main" id="{47D07997-F4E3-8E10-6BFE-293980183FD4}"/>
              </a:ext>
            </a:extLst>
          </p:cNvPr>
          <p:cNvSpPr txBox="1"/>
          <p:nvPr/>
        </p:nvSpPr>
        <p:spPr>
          <a:xfrm>
            <a:off x="8288594" y="1074097"/>
            <a:ext cx="3696929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74320" indent="-274320" algn="l" rtl="0" eaLnBrk="1" latinLnBrk="0" hangingPunct="1">
              <a:buNone/>
            </a:pPr>
            <a:r>
              <a:rPr lang="en-US" sz="2800" b="1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Daily User Activity Statistics</a:t>
            </a:r>
            <a:endParaRPr lang="en-US" sz="2800" dirty="0">
              <a:solidFill>
                <a:srgbClr val="000000"/>
              </a:solidFill>
              <a:effectLst/>
              <a:latin typeface="Aptos" panose="020B0004020202020204" pitchFamily="34" charset="0"/>
            </a:endParaRPr>
          </a:p>
          <a:p>
            <a:pPr marL="274320" indent="-274320" algn="l" rtl="0" eaLnBrk="1" latinLnBrk="0" hangingPunct="1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Take 8,271 steps on average</a:t>
            </a:r>
          </a:p>
          <a:p>
            <a:pPr marL="274320" indent="-274320" algn="l" rtl="0" eaLnBrk="1" latinLnBrk="0" hangingPunct="1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Burn 2,353 calories each day</a:t>
            </a:r>
          </a:p>
          <a:p>
            <a:pPr marL="274320" indent="-274320" algn="l" rtl="0" eaLnBrk="1" latinLnBrk="0" hangingPunct="1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Spend 954 minutes being sedentary</a:t>
            </a:r>
          </a:p>
          <a:p>
            <a:pPr marL="274320" indent="-274320" algn="l" rtl="0" eaLnBrk="1" latinLnBrk="0" hangingPunct="1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Record 246 active minutes daily</a:t>
            </a:r>
            <a:endParaRPr lang="es-CO" sz="2800" dirty="0"/>
          </a:p>
        </p:txBody>
      </p:sp>
    </p:spTree>
    <p:extLst>
      <p:ext uri="{BB962C8B-B14F-4D97-AF65-F5344CB8AC3E}">
        <p14:creationId xmlns:p14="http://schemas.microsoft.com/office/powerpoint/2010/main" val="12529886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Gráfico 3">
            <a:extLst>
              <a:ext uri="{FF2B5EF4-FFF2-40B4-BE49-F238E27FC236}">
                <a16:creationId xmlns:a16="http://schemas.microsoft.com/office/drawing/2014/main" id="{8C7DC835-CF54-4DC6-A74F-F77C1182883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75269871"/>
              </p:ext>
            </p:extLst>
          </p:nvPr>
        </p:nvGraphicFramePr>
        <p:xfrm>
          <a:off x="373626" y="373626"/>
          <a:ext cx="6479495" cy="284409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5" name="Gráfico 4">
            <a:extLst>
              <a:ext uri="{FF2B5EF4-FFF2-40B4-BE49-F238E27FC236}">
                <a16:creationId xmlns:a16="http://schemas.microsoft.com/office/drawing/2014/main" id="{6A2450E6-9DE3-4A4F-9CC3-3C1D92B729D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58970271"/>
              </p:ext>
            </p:extLst>
          </p:nvPr>
        </p:nvGraphicFramePr>
        <p:xfrm>
          <a:off x="498486" y="3753578"/>
          <a:ext cx="6354635" cy="273079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CuadroTexto 5">
            <a:extLst>
              <a:ext uri="{FF2B5EF4-FFF2-40B4-BE49-F238E27FC236}">
                <a16:creationId xmlns:a16="http://schemas.microsoft.com/office/drawing/2014/main" id="{76858A89-37BF-5A1B-5FC0-7C7A4761CB89}"/>
              </a:ext>
            </a:extLst>
          </p:cNvPr>
          <p:cNvSpPr txBox="1"/>
          <p:nvPr/>
        </p:nvSpPr>
        <p:spPr>
          <a:xfrm>
            <a:off x="7334865" y="1057009"/>
            <a:ext cx="448350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The graph indicates that the majority of individuals engage in moderate walking; however, the number of calories burned differs based on factors such as incline, terrain type, and walking pace.</a:t>
            </a:r>
            <a:endParaRPr lang="es-CO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508B7B26-9C83-26BD-0889-2BD8F7AFB187}"/>
              </a:ext>
            </a:extLst>
          </p:cNvPr>
          <p:cNvSpPr txBox="1"/>
          <p:nvPr/>
        </p:nvSpPr>
        <p:spPr>
          <a:xfrm>
            <a:off x="7334865" y="3824748"/>
            <a:ext cx="392307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The majority of individuals typically maintain a sedentary lifestyle, averaging less than 12,000 steps daily.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4795081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327D73B4-9F5C-4A64-A179-51B9500CB8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C1F06963-6374-4B48-844F-071A9BAAAE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99528" y="554152"/>
            <a:ext cx="5742189" cy="5742189"/>
          </a:xfrm>
          <a:prstGeom prst="ellipse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DB608FB-3D52-82E9-CDD0-175446C1FE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5072" y="1289765"/>
            <a:ext cx="3651101" cy="4270963"/>
          </a:xfrm>
        </p:spPr>
        <p:txBody>
          <a:bodyPr anchor="ctr">
            <a:normAutofit/>
          </a:bodyPr>
          <a:lstStyle/>
          <a:p>
            <a:pPr algn="ctr"/>
            <a:r>
              <a:rPr lang="es-CO" sz="3500">
                <a:solidFill>
                  <a:srgbClr val="FFFFFF"/>
                </a:solidFill>
              </a:rPr>
              <a:t>Recommendations</a:t>
            </a:r>
          </a:p>
        </p:txBody>
      </p:sp>
      <p:sp>
        <p:nvSpPr>
          <p:cNvPr id="27" name="Graphic 11">
            <a:extLst>
              <a:ext uri="{FF2B5EF4-FFF2-40B4-BE49-F238E27FC236}">
                <a16:creationId xmlns:a16="http://schemas.microsoft.com/office/drawing/2014/main" id="{6CB927A4-E432-4310-9CD5-E89FF50631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3493" y="374394"/>
            <a:ext cx="171515" cy="171515"/>
          </a:xfrm>
          <a:custGeom>
            <a:avLst/>
            <a:gdLst>
              <a:gd name="connsiteX0" fmla="*/ 159874 w 171515"/>
              <a:gd name="connsiteY0" fmla="*/ 74116 h 171515"/>
              <a:gd name="connsiteX1" fmla="*/ 97399 w 171515"/>
              <a:gd name="connsiteY1" fmla="*/ 74116 h 171515"/>
              <a:gd name="connsiteX2" fmla="*/ 97399 w 171515"/>
              <a:gd name="connsiteY2" fmla="*/ 11641 h 171515"/>
              <a:gd name="connsiteX3" fmla="*/ 85758 w 171515"/>
              <a:gd name="connsiteY3" fmla="*/ 0 h 171515"/>
              <a:gd name="connsiteX4" fmla="*/ 74116 w 171515"/>
              <a:gd name="connsiteY4" fmla="*/ 11641 h 171515"/>
              <a:gd name="connsiteX5" fmla="*/ 74116 w 171515"/>
              <a:gd name="connsiteY5" fmla="*/ 74116 h 171515"/>
              <a:gd name="connsiteX6" fmla="*/ 11641 w 171515"/>
              <a:gd name="connsiteY6" fmla="*/ 74116 h 171515"/>
              <a:gd name="connsiteX7" fmla="*/ 0 w 171515"/>
              <a:gd name="connsiteY7" fmla="*/ 85758 h 171515"/>
              <a:gd name="connsiteX8" fmla="*/ 11641 w 171515"/>
              <a:gd name="connsiteY8" fmla="*/ 97399 h 171515"/>
              <a:gd name="connsiteX9" fmla="*/ 74116 w 171515"/>
              <a:gd name="connsiteY9" fmla="*/ 97399 h 171515"/>
              <a:gd name="connsiteX10" fmla="*/ 74116 w 171515"/>
              <a:gd name="connsiteY10" fmla="*/ 159874 h 171515"/>
              <a:gd name="connsiteX11" fmla="*/ 85758 w 171515"/>
              <a:gd name="connsiteY11" fmla="*/ 171515 h 171515"/>
              <a:gd name="connsiteX12" fmla="*/ 97399 w 171515"/>
              <a:gd name="connsiteY12" fmla="*/ 159874 h 171515"/>
              <a:gd name="connsiteX13" fmla="*/ 97399 w 171515"/>
              <a:gd name="connsiteY13" fmla="*/ 97399 h 171515"/>
              <a:gd name="connsiteX14" fmla="*/ 159874 w 171515"/>
              <a:gd name="connsiteY14" fmla="*/ 97399 h 171515"/>
              <a:gd name="connsiteX15" fmla="*/ 171515 w 171515"/>
              <a:gd name="connsiteY15" fmla="*/ 85758 h 171515"/>
              <a:gd name="connsiteX16" fmla="*/ 159874 w 171515"/>
              <a:gd name="connsiteY16" fmla="*/ 74116 h 1715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71515" h="171515">
                <a:moveTo>
                  <a:pt x="159874" y="74116"/>
                </a:moveTo>
                <a:lnTo>
                  <a:pt x="97399" y="74116"/>
                </a:lnTo>
                <a:lnTo>
                  <a:pt x="97399" y="11641"/>
                </a:lnTo>
                <a:cubicBezTo>
                  <a:pt x="97399" y="5212"/>
                  <a:pt x="92187" y="0"/>
                  <a:pt x="85758" y="0"/>
                </a:cubicBezTo>
                <a:cubicBezTo>
                  <a:pt x="79328" y="0"/>
                  <a:pt x="74116" y="5212"/>
                  <a:pt x="74116" y="11641"/>
                </a:cubicBezTo>
                <a:lnTo>
                  <a:pt x="74116" y="74116"/>
                </a:lnTo>
                <a:lnTo>
                  <a:pt x="11641" y="74116"/>
                </a:lnTo>
                <a:cubicBezTo>
                  <a:pt x="5212" y="74116"/>
                  <a:pt x="0" y="79328"/>
                  <a:pt x="0" y="85758"/>
                </a:cubicBezTo>
                <a:cubicBezTo>
                  <a:pt x="0" y="92187"/>
                  <a:pt x="5212" y="97399"/>
                  <a:pt x="11641" y="97399"/>
                </a:cubicBezTo>
                <a:lnTo>
                  <a:pt x="74116" y="97399"/>
                </a:lnTo>
                <a:lnTo>
                  <a:pt x="74116" y="159874"/>
                </a:lnTo>
                <a:cubicBezTo>
                  <a:pt x="74116" y="166303"/>
                  <a:pt x="79328" y="171515"/>
                  <a:pt x="85758" y="171515"/>
                </a:cubicBezTo>
                <a:cubicBezTo>
                  <a:pt x="92187" y="171515"/>
                  <a:pt x="97399" y="166303"/>
                  <a:pt x="97399" y="159874"/>
                </a:cubicBezTo>
                <a:lnTo>
                  <a:pt x="97399" y="97399"/>
                </a:lnTo>
                <a:lnTo>
                  <a:pt x="159874" y="97399"/>
                </a:lnTo>
                <a:cubicBezTo>
                  <a:pt x="166303" y="97399"/>
                  <a:pt x="171515" y="92187"/>
                  <a:pt x="171515" y="85758"/>
                </a:cubicBezTo>
                <a:cubicBezTo>
                  <a:pt x="171515" y="79328"/>
                  <a:pt x="166303" y="74116"/>
                  <a:pt x="159874" y="74116"/>
                </a:cubicBezTo>
                <a:close/>
              </a:path>
            </a:pathLst>
          </a:custGeom>
          <a:solidFill>
            <a:schemeClr val="accent2"/>
          </a:solidFill>
          <a:ln w="77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9" name="Graphic 12">
            <a:extLst>
              <a:ext uri="{FF2B5EF4-FFF2-40B4-BE49-F238E27FC236}">
                <a16:creationId xmlns:a16="http://schemas.microsoft.com/office/drawing/2014/main" id="{1453BF6C-B012-48B7-B4E8-6D7AC7C27D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0109" y="1084507"/>
            <a:ext cx="157545" cy="157545"/>
          </a:xfrm>
          <a:custGeom>
            <a:avLst/>
            <a:gdLst>
              <a:gd name="connsiteX0" fmla="*/ 78773 w 157545"/>
              <a:gd name="connsiteY0" fmla="*/ 23283 h 157545"/>
              <a:gd name="connsiteX1" fmla="*/ 134262 w 157545"/>
              <a:gd name="connsiteY1" fmla="*/ 78773 h 157545"/>
              <a:gd name="connsiteX2" fmla="*/ 78773 w 157545"/>
              <a:gd name="connsiteY2" fmla="*/ 134262 h 157545"/>
              <a:gd name="connsiteX3" fmla="*/ 23283 w 157545"/>
              <a:gd name="connsiteY3" fmla="*/ 78773 h 157545"/>
              <a:gd name="connsiteX4" fmla="*/ 78773 w 157545"/>
              <a:gd name="connsiteY4" fmla="*/ 23283 h 157545"/>
              <a:gd name="connsiteX5" fmla="*/ 78773 w 157545"/>
              <a:gd name="connsiteY5" fmla="*/ 0 h 157545"/>
              <a:gd name="connsiteX6" fmla="*/ 0 w 157545"/>
              <a:gd name="connsiteY6" fmla="*/ 78773 h 157545"/>
              <a:gd name="connsiteX7" fmla="*/ 78773 w 157545"/>
              <a:gd name="connsiteY7" fmla="*/ 157545 h 157545"/>
              <a:gd name="connsiteX8" fmla="*/ 157545 w 157545"/>
              <a:gd name="connsiteY8" fmla="*/ 78773 h 157545"/>
              <a:gd name="connsiteX9" fmla="*/ 78773 w 157545"/>
              <a:gd name="connsiteY9" fmla="*/ 0 h 1575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7545" h="157545">
                <a:moveTo>
                  <a:pt x="78773" y="23283"/>
                </a:moveTo>
                <a:cubicBezTo>
                  <a:pt x="109419" y="23283"/>
                  <a:pt x="134262" y="48126"/>
                  <a:pt x="134262" y="78773"/>
                </a:cubicBezTo>
                <a:cubicBezTo>
                  <a:pt x="134262" y="109419"/>
                  <a:pt x="109419" y="134262"/>
                  <a:pt x="78773" y="134262"/>
                </a:cubicBezTo>
                <a:cubicBezTo>
                  <a:pt x="48126" y="134262"/>
                  <a:pt x="23283" y="109419"/>
                  <a:pt x="23283" y="78773"/>
                </a:cubicBezTo>
                <a:cubicBezTo>
                  <a:pt x="23312" y="48139"/>
                  <a:pt x="48139" y="23312"/>
                  <a:pt x="78773" y="23283"/>
                </a:cubicBezTo>
                <a:moveTo>
                  <a:pt x="78773" y="0"/>
                </a:moveTo>
                <a:cubicBezTo>
                  <a:pt x="35268" y="0"/>
                  <a:pt x="0" y="35268"/>
                  <a:pt x="0" y="78773"/>
                </a:cubicBezTo>
                <a:cubicBezTo>
                  <a:pt x="0" y="122277"/>
                  <a:pt x="35268" y="157545"/>
                  <a:pt x="78773" y="157545"/>
                </a:cubicBezTo>
                <a:cubicBezTo>
                  <a:pt x="122277" y="157545"/>
                  <a:pt x="157545" y="122277"/>
                  <a:pt x="157545" y="78773"/>
                </a:cubicBezTo>
                <a:cubicBezTo>
                  <a:pt x="157545" y="35268"/>
                  <a:pt x="122277" y="0"/>
                  <a:pt x="78773" y="0"/>
                </a:cubicBezTo>
                <a:close/>
              </a:path>
            </a:pathLst>
          </a:custGeom>
          <a:solidFill>
            <a:schemeClr val="accent2"/>
          </a:solidFill>
          <a:ln w="751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8FEF719-A342-242D-8E04-2E2587D1C0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97233" y="518400"/>
            <a:ext cx="4771607" cy="5837949"/>
          </a:xfrm>
        </p:spPr>
        <p:txBody>
          <a:bodyPr anchor="ctr">
            <a:normAutofit/>
          </a:bodyPr>
          <a:lstStyle/>
          <a:p>
            <a:pPr marL="228600" indent="-228600" rtl="0" eaLnBrk="1" latinLnBrk="0" hangingPunct="1"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>
                    <a:alpha val="80000"/>
                  </a:schemeClr>
                </a:solidFill>
                <a:effectLst/>
                <a:latin typeface="Aptos" panose="020B0004020202020204" pitchFamily="34" charset="0"/>
              </a:rPr>
              <a:t>Offer Spring bundled with 1–3 months of Premium to let customers explore the full ecosystem, then use loyalty pricing like renewal discounts or annual plan incentives to boost retention.</a:t>
            </a:r>
          </a:p>
          <a:p>
            <a:pPr marL="228600" indent="-228600" rtl="0" eaLnBrk="1" latinLnBrk="0" hangingPunct="1"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>
                    <a:alpha val="80000"/>
                  </a:schemeClr>
                </a:solidFill>
                <a:effectLst/>
                <a:latin typeface="Aptos" panose="020B0004020202020204" pitchFamily="34" charset="0"/>
              </a:rPr>
              <a:t>Use Spring to send gentle prompts during long inactivity, encouraging small goals like extra steps or short movement breaks alongside hydration tracking to foster consistency.</a:t>
            </a:r>
          </a:p>
          <a:p>
            <a:pPr marL="228600" indent="-228600" rtl="0" eaLnBrk="1" latinLnBrk="0" hangingPunct="1"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>
                    <a:alpha val="80000"/>
                  </a:schemeClr>
                </a:solidFill>
                <a:latin typeface="Aptos" panose="020B0004020202020204" pitchFamily="34" charset="0"/>
              </a:rPr>
              <a:t>Launch weekly themed challenges with daily reminders (hydration + light activity) and offer Sunday rewards (discounts/points) for completing goals such as meeting hydration targets with Spring and maintaining a walking streak.</a:t>
            </a:r>
            <a:endParaRPr lang="es-CO" sz="2000" dirty="0">
              <a:solidFill>
                <a:schemeClr val="tx1">
                  <a:alpha val="80000"/>
                </a:schemeClr>
              </a:solidFill>
            </a:endParaRPr>
          </a:p>
        </p:txBody>
      </p:sp>
      <p:sp>
        <p:nvSpPr>
          <p:cNvPr id="31" name="Graphic 10">
            <a:extLst>
              <a:ext uri="{FF2B5EF4-FFF2-40B4-BE49-F238E27FC236}">
                <a16:creationId xmlns:a16="http://schemas.microsoft.com/office/drawing/2014/main" id="{E3020543-B24B-4EC4-8FFC-8DD88EEA91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36547" y="5751820"/>
            <a:ext cx="112426" cy="112426"/>
          </a:xfrm>
          <a:custGeom>
            <a:avLst/>
            <a:gdLst>
              <a:gd name="connsiteX0" fmla="*/ 112426 w 112426"/>
              <a:gd name="connsiteY0" fmla="*/ 56213 h 112426"/>
              <a:gd name="connsiteX1" fmla="*/ 56213 w 112426"/>
              <a:gd name="connsiteY1" fmla="*/ 112426 h 112426"/>
              <a:gd name="connsiteX2" fmla="*/ 0 w 112426"/>
              <a:gd name="connsiteY2" fmla="*/ 56213 h 112426"/>
              <a:gd name="connsiteX3" fmla="*/ 56213 w 112426"/>
              <a:gd name="connsiteY3" fmla="*/ 0 h 112426"/>
              <a:gd name="connsiteX4" fmla="*/ 112426 w 112426"/>
              <a:gd name="connsiteY4" fmla="*/ 56213 h 1124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2426" h="112426">
                <a:moveTo>
                  <a:pt x="112426" y="56213"/>
                </a:moveTo>
                <a:cubicBezTo>
                  <a:pt x="112426" y="87259"/>
                  <a:pt x="87259" y="112426"/>
                  <a:pt x="56213" y="112426"/>
                </a:cubicBezTo>
                <a:cubicBezTo>
                  <a:pt x="25167" y="112426"/>
                  <a:pt x="0" y="87259"/>
                  <a:pt x="0" y="56213"/>
                </a:cubicBezTo>
                <a:cubicBezTo>
                  <a:pt x="0" y="25167"/>
                  <a:pt x="25167" y="0"/>
                  <a:pt x="56213" y="0"/>
                </a:cubicBezTo>
                <a:cubicBezTo>
                  <a:pt x="87259" y="0"/>
                  <a:pt x="112426" y="25167"/>
                  <a:pt x="112426" y="56213"/>
                </a:cubicBezTo>
                <a:close/>
              </a:path>
            </a:pathLst>
          </a:custGeom>
          <a:solidFill>
            <a:schemeClr val="accent2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557053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D1CB936-A4D2-286D-C56C-221BDF649D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7D207AD-D965-B78B-8262-6E2A26D49F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5572538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Tema de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97E0A228-C590-4D20-B05F-A6BF04A05448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90</TotalTime>
  <Words>351</Words>
  <Application>Microsoft Office PowerPoint</Application>
  <PresentationFormat>Panorámica</PresentationFormat>
  <Paragraphs>39</Paragraphs>
  <Slides>7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3" baseType="lpstr">
      <vt:lpstr>Aptos</vt:lpstr>
      <vt:lpstr>Aptos Display</vt:lpstr>
      <vt:lpstr>Aptos Narrow</vt:lpstr>
      <vt:lpstr>Arial</vt:lpstr>
      <vt:lpstr>Calibri</vt:lpstr>
      <vt:lpstr>Office Theme</vt:lpstr>
      <vt:lpstr>Bellabeat case study</vt:lpstr>
      <vt:lpstr>Business task</vt:lpstr>
      <vt:lpstr>Data &amp; Cleaning</vt:lpstr>
      <vt:lpstr>Key findings</vt:lpstr>
      <vt:lpstr>Presentación de PowerPoint</vt:lpstr>
      <vt:lpstr>Recommendations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Joseph Reina</dc:creator>
  <cp:lastModifiedBy>Joseph Reina</cp:lastModifiedBy>
  <cp:revision>1</cp:revision>
  <dcterms:created xsi:type="dcterms:W3CDTF">2026-01-02T23:36:24Z</dcterms:created>
  <dcterms:modified xsi:type="dcterms:W3CDTF">2026-01-03T01:13:36Z</dcterms:modified>
</cp:coreProperties>
</file>